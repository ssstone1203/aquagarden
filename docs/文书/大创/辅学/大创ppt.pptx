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7" r:id="rId10"/>
    <p:sldId id="271" r:id="rId11"/>
    <p:sldId id="268" r:id="rId12"/>
    <p:sldId id="269" r:id="rId13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14" y="4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18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6309360" y="-640080"/>
            <a:ext cx="6400800" cy="7863840"/>
          </a:xfrm>
          <a:prstGeom prst="parallelogram">
            <a:avLst/>
          </a:prstGeom>
          <a:solidFill>
            <a:srgbClr val="111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8869680" y="-731520"/>
            <a:ext cx="3840480" cy="8138160"/>
          </a:xfrm>
          <a:prstGeom prst="parallelogram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" y="0"/>
            <a:ext cx="1371599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0584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0876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1168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51460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1752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52044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02336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2628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2920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53212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3504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3796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04088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54380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4672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54964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5256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55548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05840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56132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06424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56716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07008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257300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307592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6537960"/>
            <a:ext cx="12191695" cy="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7040880"/>
            <a:ext cx="12191695" cy="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8046720" y="-1737360"/>
            <a:ext cx="5303520" cy="5303520"/>
          </a:xfrm>
          <a:prstGeom prst="ellipse">
            <a:avLst/>
          </a:prstGeom>
          <a:noFill/>
          <a:ln w="15240">
            <a:solidFill>
              <a:srgbClr val="4C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732520" y="-1051560"/>
            <a:ext cx="3931920" cy="3931920"/>
          </a:xfrm>
          <a:prstGeom prst="ellipse">
            <a:avLst/>
          </a:prstGeom>
          <a:noFill/>
          <a:ln w="10160">
            <a:solidFill>
              <a:srgbClr val="7D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8368" y="1078992"/>
            <a:ext cx="6583680" cy="12801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>
              <a:lnSpc>
                <a:spcPct val="95000"/>
              </a:lnSpc>
            </a:pPr>
            <a:r>
              <a:rPr sz="2900" b="1">
                <a:solidFill>
                  <a:srgbClr val="FFFFFF"/>
                </a:solidFill>
                <a:latin typeface="Microsoft YaHei"/>
              </a:rPr>
              <a:t>基于瑞萨 RA6M5 的</a:t>
            </a:r>
            <a:br/>
            <a:r>
              <a:rPr sz="2900" b="1">
                <a:solidFill>
                  <a:srgbClr val="FFFFFF"/>
                </a:solidFill>
                <a:latin typeface="Microsoft YaHei"/>
              </a:rPr>
              <a:t>多模态 AI 机械臂辅学系统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" y="2542032"/>
            <a:ext cx="5120640" cy="3017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20" b="1">
                <a:solidFill>
                  <a:srgbClr val="B9E8FF"/>
                </a:solidFill>
                <a:latin typeface="Microsoft YaHei"/>
              </a:rPr>
              <a:t>视觉识别 · 语音交互 · 智能 Agent · 机械臂执行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" y="2999232"/>
            <a:ext cx="5257800" cy="594360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>
              <a:lnSpc>
                <a:spcPct val="105000"/>
              </a:lnSpc>
            </a:pPr>
            <a:r>
              <a:rPr sz="1300" b="0" dirty="0" err="1">
                <a:solidFill>
                  <a:srgbClr val="D6E2F6"/>
                </a:solidFill>
                <a:latin typeface="Microsoft YaHei"/>
              </a:rPr>
              <a:t>构建“感知</a:t>
            </a:r>
            <a:r>
              <a:rPr sz="1300" b="0" dirty="0">
                <a:solidFill>
                  <a:srgbClr val="D6E2F6"/>
                </a:solidFill>
                <a:latin typeface="Microsoft YaHei"/>
              </a:rPr>
              <a:t>—</a:t>
            </a:r>
            <a:r>
              <a:rPr sz="1300" b="0" dirty="0" err="1">
                <a:solidFill>
                  <a:srgbClr val="D6E2F6"/>
                </a:solidFill>
                <a:latin typeface="Microsoft YaHei"/>
              </a:rPr>
              <a:t>理解</a:t>
            </a:r>
            <a:r>
              <a:rPr sz="1300" b="0" dirty="0">
                <a:solidFill>
                  <a:srgbClr val="D6E2F6"/>
                </a:solidFill>
                <a:latin typeface="Microsoft YaHei"/>
              </a:rPr>
              <a:t>—</a:t>
            </a:r>
            <a:r>
              <a:rPr sz="1300" b="0" dirty="0" err="1">
                <a:solidFill>
                  <a:srgbClr val="D6E2F6"/>
                </a:solidFill>
                <a:latin typeface="Microsoft YaHei"/>
              </a:rPr>
              <a:t>决策</a:t>
            </a:r>
            <a:r>
              <a:rPr sz="1300" b="0" dirty="0">
                <a:solidFill>
                  <a:srgbClr val="D6E2F6"/>
                </a:solidFill>
                <a:latin typeface="Microsoft YaHei"/>
              </a:rPr>
              <a:t>—</a:t>
            </a:r>
            <a:r>
              <a:rPr sz="1300" b="0" dirty="0" err="1">
                <a:solidFill>
                  <a:srgbClr val="D6E2F6"/>
                </a:solidFill>
                <a:latin typeface="Microsoft YaHei"/>
              </a:rPr>
              <a:t>执行</a:t>
            </a:r>
            <a:r>
              <a:rPr sz="1300" b="0" dirty="0">
                <a:solidFill>
                  <a:srgbClr val="D6E2F6"/>
                </a:solidFill>
                <a:latin typeface="Microsoft YaHei"/>
              </a:rPr>
              <a:t>—</a:t>
            </a:r>
            <a:r>
              <a:rPr sz="1300" b="0" dirty="0" err="1">
                <a:solidFill>
                  <a:srgbClr val="D6E2F6"/>
                </a:solidFill>
                <a:latin typeface="Microsoft YaHei"/>
              </a:rPr>
              <a:t>反馈”的具身智能辅学闭环，让</a:t>
            </a:r>
            <a:r>
              <a:rPr sz="1300" b="0" dirty="0">
                <a:solidFill>
                  <a:srgbClr val="D6E2F6"/>
                </a:solidFill>
                <a:latin typeface="Microsoft YaHei"/>
              </a:rPr>
              <a:t> AI </a:t>
            </a:r>
            <a:r>
              <a:rPr sz="1300" b="0" dirty="0" err="1">
                <a:solidFill>
                  <a:srgbClr val="D6E2F6"/>
                </a:solidFill>
                <a:latin typeface="Microsoft YaHei"/>
              </a:rPr>
              <a:t>从文本回答走向可观察、可操作的实体交互</a:t>
            </a:r>
            <a:r>
              <a:rPr sz="1300" b="0" dirty="0">
                <a:solidFill>
                  <a:srgbClr val="D6E2F6"/>
                </a:solidFill>
                <a:latin typeface="Microsoft YaHei"/>
              </a:rPr>
              <a:t>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4944" y="3977639"/>
            <a:ext cx="1664208" cy="786384"/>
          </a:xfrm>
          <a:prstGeom prst="roundRect">
            <a:avLst/>
          </a:prstGeom>
          <a:solidFill>
            <a:srgbClr val="102A54"/>
          </a:solidFill>
          <a:ln w="9525">
            <a:solidFill>
              <a:srgbClr val="375B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04672" y="4096512"/>
            <a:ext cx="329184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1">
                <a:solidFill>
                  <a:srgbClr val="7DDBFF"/>
                </a:solidFill>
                <a:latin typeface="Microsoft YaHei"/>
              </a:rPr>
              <a:t>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4672" y="4297680"/>
            <a:ext cx="141732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1">
                <a:solidFill>
                  <a:srgbClr val="FFFFFF"/>
                </a:solidFill>
                <a:latin typeface="Microsoft YaHei"/>
              </a:rPr>
              <a:t>研究意义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4672" y="4535424"/>
            <a:ext cx="141732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C0D2EB"/>
                </a:solidFill>
                <a:latin typeface="Microsoft YaHei"/>
              </a:rPr>
              <a:t>AI 能力实体化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569463" y="3977639"/>
            <a:ext cx="1664208" cy="786384"/>
          </a:xfrm>
          <a:prstGeom prst="roundRect">
            <a:avLst/>
          </a:prstGeom>
          <a:solidFill>
            <a:srgbClr val="102A54"/>
          </a:solidFill>
          <a:ln w="9525">
            <a:solidFill>
              <a:srgbClr val="375B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679191" y="4096512"/>
            <a:ext cx="329184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1">
                <a:solidFill>
                  <a:srgbClr val="29B765"/>
                </a:solidFill>
                <a:latin typeface="Microsoft YaHei"/>
              </a:rPr>
              <a:t>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79191" y="4297680"/>
            <a:ext cx="141732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1">
                <a:solidFill>
                  <a:srgbClr val="FFFFFF"/>
                </a:solidFill>
                <a:latin typeface="Microsoft YaHei"/>
              </a:rPr>
              <a:t>算法创新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79191" y="4535424"/>
            <a:ext cx="141732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C0D2EB"/>
                </a:solidFill>
                <a:latin typeface="Microsoft YaHei"/>
              </a:rPr>
              <a:t>轻量检测 + OCR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443983" y="3977639"/>
            <a:ext cx="1664208" cy="786384"/>
          </a:xfrm>
          <a:prstGeom prst="roundRect">
            <a:avLst/>
          </a:prstGeom>
          <a:solidFill>
            <a:srgbClr val="102A54"/>
          </a:solidFill>
          <a:ln w="9525">
            <a:solidFill>
              <a:srgbClr val="375B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553712" y="4096512"/>
            <a:ext cx="329184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730" b="1">
                <a:solidFill>
                  <a:srgbClr val="FFB74D"/>
                </a:solidFill>
                <a:latin typeface="Microsoft YaHei"/>
              </a:rPr>
              <a:t>03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53712" y="4297680"/>
            <a:ext cx="141732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1">
                <a:solidFill>
                  <a:srgbClr val="FFFFFF"/>
                </a:solidFill>
                <a:latin typeface="Microsoft YaHei"/>
              </a:rPr>
              <a:t>硬件闭环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53712" y="4535424"/>
            <a:ext cx="141732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C0D2EB"/>
                </a:solidFill>
                <a:latin typeface="Microsoft YaHei"/>
              </a:rPr>
              <a:t>RA6M5 实时控制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543800" y="960120"/>
            <a:ext cx="2999232" cy="4434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7543800" y="5157216"/>
            <a:ext cx="2999232" cy="237744"/>
          </a:xfrm>
          <a:prstGeom prst="rect">
            <a:avLst/>
          </a:prstGeom>
          <a:solidFill>
            <a:srgbClr val="111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653527" y="5175503"/>
            <a:ext cx="277977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720" b="1">
                <a:solidFill>
                  <a:srgbClr val="FFFFFF"/>
                </a:solidFill>
                <a:latin typeface="Microsoft YaHei"/>
              </a:rPr>
              <a:t>原型验证场景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94944" y="5989320"/>
            <a:ext cx="10698480" cy="10972"/>
          </a:xfrm>
          <a:prstGeom prst="rect">
            <a:avLst/>
          </a:prstGeom>
          <a:solidFill>
            <a:srgbClr val="47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424160" y="6108192"/>
            <a:ext cx="86868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C7D7EE"/>
                </a:solidFill>
                <a:latin typeface="Microsoft YaHei"/>
              </a:rPr>
              <a:t>2026.05</a:t>
            </a:r>
          </a:p>
        </p:txBody>
      </p:sp>
      <p:pic>
        <p:nvPicPr>
          <p:cNvPr id="76" name="图片 75">
            <a:extLst>
              <a:ext uri="{FF2B5EF4-FFF2-40B4-BE49-F238E27FC236}">
                <a16:creationId xmlns:a16="http://schemas.microsoft.com/office/drawing/2014/main" id="{C549EEFD-F7CE-2387-E75D-C9A9F4DC5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655181"/>
            <a:ext cx="4900627" cy="4535424"/>
          </a:xfrm>
          <a:prstGeom prst="rect">
            <a:avLst/>
          </a:prstGeom>
        </p:spPr>
      </p:pic>
      <p:sp>
        <p:nvSpPr>
          <p:cNvPr id="78" name="文本框 77">
            <a:extLst>
              <a:ext uri="{FF2B5EF4-FFF2-40B4-BE49-F238E27FC236}">
                <a16:creationId xmlns:a16="http://schemas.microsoft.com/office/drawing/2014/main" id="{1DB947DE-3BDC-E73A-15C4-F59AA45CBAAA}"/>
              </a:ext>
            </a:extLst>
          </p:cNvPr>
          <p:cNvSpPr txBox="1"/>
          <p:nvPr/>
        </p:nvSpPr>
        <p:spPr>
          <a:xfrm>
            <a:off x="658368" y="4932218"/>
            <a:ext cx="43708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FFFF"/>
                </a:solidFill>
              </a:rPr>
              <a:t>项目负责人：   王凯</a:t>
            </a:r>
            <a:endParaRPr lang="en-US" altLang="zh-CN" dirty="0">
              <a:solidFill>
                <a:srgbClr val="FFFFFF"/>
              </a:solidFill>
            </a:endParaRPr>
          </a:p>
          <a:p>
            <a:r>
              <a:rPr lang="zh-CN" altLang="en-US" dirty="0">
                <a:solidFill>
                  <a:srgbClr val="FFFFFF"/>
                </a:solidFill>
              </a:rPr>
              <a:t>项目成员：       奚光磊，吴嘉梁，赵慧君</a:t>
            </a:r>
            <a:endParaRPr lang="en-US" altLang="zh-CN" dirty="0">
              <a:solidFill>
                <a:srgbClr val="FFFFFF"/>
              </a:solidFill>
            </a:endParaRPr>
          </a:p>
          <a:p>
            <a:r>
              <a:rPr lang="zh-CN" altLang="en-US" dirty="0">
                <a:solidFill>
                  <a:srgbClr val="FFFFFF"/>
                </a:solidFill>
              </a:rPr>
              <a:t>指导教师：       王可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11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5029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424160" y="-1051560"/>
            <a:ext cx="3108960" cy="3108960"/>
          </a:xfrm>
          <a:prstGeom prst="ellipse">
            <a:avLst/>
          </a:prstGeom>
          <a:noFill/>
          <a:ln w="12700">
            <a:solidFill>
              <a:srgbClr val="E1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0" y="-502920"/>
            <a:ext cx="2011680" cy="2011680"/>
          </a:xfrm>
          <a:prstGeom prst="ellipse">
            <a:avLst/>
          </a:prstGeom>
          <a:noFill/>
          <a:ln w="12700">
            <a:solidFill>
              <a:srgbClr val="EC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7922" y="59051"/>
            <a:ext cx="4153205" cy="559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dirty="0">
                <a:solidFill>
                  <a:srgbClr val="1F6FEB"/>
                </a:solidFill>
                <a:latin typeface="Microsoft YaHei"/>
              </a:rPr>
              <a:t>01｜研究意义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6928"/>
            <a:ext cx="7955279" cy="37728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dirty="0" err="1">
                <a:solidFill>
                  <a:srgbClr val="141A2E"/>
                </a:solidFill>
                <a:latin typeface="Microsoft YaHei"/>
              </a:rPr>
              <a:t>应用场景｜围绕学习桌面的</a:t>
            </a:r>
            <a:r>
              <a:rPr sz="2000" b="1" dirty="0">
                <a:solidFill>
                  <a:srgbClr val="141A2E"/>
                </a:solidFill>
                <a:latin typeface="Microsoft YaHei"/>
              </a:rPr>
              <a:t> 5 </a:t>
            </a:r>
            <a:r>
              <a:rPr sz="2000" b="1" dirty="0" err="1">
                <a:solidFill>
                  <a:srgbClr val="141A2E"/>
                </a:solidFill>
                <a:latin typeface="Microsoft YaHei"/>
              </a:rPr>
              <a:t>类可演示任务</a:t>
            </a:r>
            <a:endParaRPr sz="2000" b="1" dirty="0">
              <a:solidFill>
                <a:srgbClr val="141A2E"/>
              </a:solidFill>
              <a:latin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" y="1033271"/>
            <a:ext cx="978408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C677D"/>
                </a:solidFill>
                <a:latin typeface="Microsoft YaHei"/>
              </a:rPr>
              <a:t>每个任务都能转化为具体输入、算法处理、机械动作和评价指标，便于后续实验验证。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310896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1F6FEB"/>
                </a:solidFill>
                <a:latin typeface="Microsoft YaHei"/>
              </a:rPr>
              <a:t>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10881360" cy="16459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1783080"/>
            <a:ext cx="2002536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7240" y="1984248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048256"/>
            <a:ext cx="310896" cy="91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1" dirty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1965960"/>
            <a:ext cx="1207008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1" dirty="0" err="1">
                <a:solidFill>
                  <a:srgbClr val="141A2E"/>
                </a:solidFill>
                <a:latin typeface="Microsoft YaHei"/>
              </a:rPr>
              <a:t>题目解答</a:t>
            </a:r>
            <a:endParaRPr sz="1120" b="1" dirty="0">
              <a:solidFill>
                <a:srgbClr val="141A2E"/>
              </a:solidFill>
              <a:latin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90422" y="2203703"/>
            <a:ext cx="1495044" cy="530351"/>
          </a:xfrm>
          <a:prstGeom prst="rect">
            <a:avLst/>
          </a:prstGeom>
          <a:noFill/>
        </p:spPr>
        <p:txBody>
          <a:bodyPr wrap="square" lIns="36576" tIns="36576" r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dirty="0" err="1">
                <a:solidFill>
                  <a:srgbClr val="5C677D"/>
                </a:solidFill>
                <a:latin typeface="+mn-ea"/>
              </a:rPr>
              <a:t>定位题目区域</a:t>
            </a:r>
            <a:br>
              <a:rPr sz="1100" dirty="0">
                <a:latin typeface="+mn-ea"/>
              </a:rPr>
            </a:br>
            <a:r>
              <a:rPr sz="1100" b="0" dirty="0">
                <a:solidFill>
                  <a:srgbClr val="5C677D"/>
                </a:solidFill>
                <a:latin typeface="+mn-ea"/>
              </a:rPr>
              <a:t>OCR </a:t>
            </a:r>
            <a:r>
              <a:rPr sz="1100" b="0" dirty="0" err="1">
                <a:solidFill>
                  <a:srgbClr val="5C677D"/>
                </a:solidFill>
                <a:latin typeface="+mn-ea"/>
              </a:rPr>
              <a:t>识别并交给</a:t>
            </a:r>
            <a:r>
              <a:rPr sz="1100" b="0" dirty="0">
                <a:solidFill>
                  <a:srgbClr val="5C677D"/>
                </a:solidFill>
                <a:latin typeface="+mn-ea"/>
              </a:rPr>
              <a:t> Agent</a:t>
            </a:r>
            <a:r>
              <a:rPr lang="zh-CN" altLang="en-US" sz="1100" b="0" dirty="0">
                <a:solidFill>
                  <a:srgbClr val="5C677D"/>
                </a:solidFill>
                <a:latin typeface="+mn-ea"/>
              </a:rPr>
              <a:t>输出答案</a:t>
            </a:r>
            <a:endParaRPr sz="1100" b="0" dirty="0">
              <a:solidFill>
                <a:srgbClr val="5C677D"/>
              </a:solidFill>
              <a:latin typeface="+mn-ea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816352" y="1783079"/>
            <a:ext cx="2029968" cy="131673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953512" y="1984248"/>
            <a:ext cx="310896" cy="310896"/>
          </a:xfrm>
          <a:prstGeom prst="ellipse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53512" y="2048256"/>
            <a:ext cx="310896" cy="91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28416" y="1965960"/>
            <a:ext cx="1207008" cy="243785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lang="zh-CN" altLang="en-US" sz="1120" b="1" dirty="0">
                <a:solidFill>
                  <a:srgbClr val="141A2E"/>
                </a:solidFill>
                <a:latin typeface="Microsoft YaHei"/>
              </a:rPr>
              <a:t>物品</a:t>
            </a:r>
            <a:r>
              <a:rPr sz="1120" b="1" dirty="0" err="1">
                <a:solidFill>
                  <a:srgbClr val="141A2E"/>
                </a:solidFill>
                <a:latin typeface="Microsoft YaHei"/>
              </a:rPr>
              <a:t>分拣</a:t>
            </a:r>
            <a:endParaRPr sz="1120" b="1" dirty="0">
              <a:solidFill>
                <a:srgbClr val="141A2E"/>
              </a:solidFill>
              <a:latin typeface="Microsoft YaHe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328416" y="2249424"/>
            <a:ext cx="1327708" cy="758952"/>
          </a:xfrm>
          <a:prstGeom prst="rect">
            <a:avLst/>
          </a:prstGeom>
          <a:noFill/>
        </p:spPr>
        <p:txBody>
          <a:bodyPr wrap="square" lIns="36576" tIns="36576" r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dirty="0" err="1">
                <a:solidFill>
                  <a:srgbClr val="5C677D"/>
                </a:solidFill>
                <a:latin typeface="+mj-ea"/>
                <a:ea typeface="+mj-ea"/>
              </a:rPr>
              <a:t>识别</a:t>
            </a:r>
            <a:r>
              <a:rPr lang="zh-CN" altLang="en-US" sz="1100" b="0" dirty="0">
                <a:solidFill>
                  <a:srgbClr val="5C677D"/>
                </a:solidFill>
                <a:latin typeface="+mj-ea"/>
                <a:ea typeface="+mj-ea"/>
              </a:rPr>
              <a:t>儿童所需物品，</a:t>
            </a:r>
            <a:endParaRPr lang="en-US" altLang="zh-CN" sz="1100" b="0" dirty="0">
              <a:solidFill>
                <a:srgbClr val="5C677D"/>
              </a:solidFill>
              <a:latin typeface="+mj-ea"/>
              <a:ea typeface="+mj-ea"/>
            </a:endParaRPr>
          </a:p>
          <a:p>
            <a:pPr algn="l">
              <a:lnSpc>
                <a:spcPct val="105000"/>
              </a:lnSpc>
            </a:pPr>
            <a:r>
              <a:rPr lang="zh-CN" altLang="en-US" sz="1100" dirty="0">
                <a:solidFill>
                  <a:srgbClr val="5C677D"/>
                </a:solidFill>
                <a:latin typeface="+mj-ea"/>
                <a:ea typeface="+mj-ea"/>
              </a:rPr>
              <a:t>并进行拿取，比如笔，水杯等</a:t>
            </a:r>
            <a:endParaRPr sz="1100" b="0" dirty="0">
              <a:solidFill>
                <a:srgbClr val="5C677D"/>
              </a:solidFill>
              <a:latin typeface="+mj-ea"/>
              <a:ea typeface="+mj-ea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992624" y="1783080"/>
            <a:ext cx="2069592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129784" y="1984248"/>
            <a:ext cx="310896" cy="310896"/>
          </a:xfrm>
          <a:prstGeom prst="ellipse">
            <a:avLst/>
          </a:prstGeom>
          <a:solidFill>
            <a:srgbClr val="29B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29784" y="2048256"/>
            <a:ext cx="310896" cy="91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04688" y="1965960"/>
            <a:ext cx="1207008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1">
                <a:solidFill>
                  <a:srgbClr val="141A2E"/>
                </a:solidFill>
                <a:latin typeface="Microsoft YaHei"/>
              </a:rPr>
              <a:t>垃圾分类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04688" y="2203703"/>
            <a:ext cx="1207008" cy="329184"/>
          </a:xfrm>
          <a:prstGeom prst="rect">
            <a:avLst/>
          </a:prstGeom>
          <a:noFill/>
        </p:spPr>
        <p:txBody>
          <a:bodyPr wrap="square" lIns="36576" tIns="36576" r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altLang="en-US" sz="1100" b="0" dirty="0">
                <a:solidFill>
                  <a:srgbClr val="5C677D"/>
                </a:solidFill>
                <a:latin typeface="+mn-ea"/>
              </a:rPr>
              <a:t>利用训练的</a:t>
            </a:r>
            <a:r>
              <a:rPr lang="en-US" altLang="zh-CN" sz="1100" b="0" dirty="0">
                <a:solidFill>
                  <a:srgbClr val="5C677D"/>
                </a:solidFill>
                <a:latin typeface="+mn-ea"/>
              </a:rPr>
              <a:t>YOLO</a:t>
            </a:r>
            <a:r>
              <a:rPr lang="zh-CN" altLang="en-US" sz="1100" b="0" dirty="0">
                <a:solidFill>
                  <a:srgbClr val="5C677D"/>
                </a:solidFill>
                <a:latin typeface="+mn-ea"/>
              </a:rPr>
              <a:t>模型，对垃圾进行分类分拣，实景的给孩子教学垃圾分类</a:t>
            </a:r>
            <a:endParaRPr sz="1100" b="0" dirty="0">
              <a:solidFill>
                <a:srgbClr val="5C677D"/>
              </a:solidFill>
              <a:latin typeface="+mn-ea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168896" y="1783080"/>
            <a:ext cx="2069592" cy="13350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306056" y="1984248"/>
            <a:ext cx="310896" cy="310896"/>
          </a:xfrm>
          <a:prstGeom prst="ellipse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06056" y="2048256"/>
            <a:ext cx="310896" cy="91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1965960"/>
            <a:ext cx="1207008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1">
                <a:solidFill>
                  <a:srgbClr val="141A2E"/>
                </a:solidFill>
                <a:latin typeface="Microsoft YaHei"/>
              </a:rPr>
              <a:t>智能光照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2203703"/>
            <a:ext cx="1207008" cy="329184"/>
          </a:xfrm>
          <a:prstGeom prst="rect">
            <a:avLst/>
          </a:prstGeom>
          <a:noFill/>
        </p:spPr>
        <p:txBody>
          <a:bodyPr wrap="square" lIns="36576" tIns="36576" r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altLang="en-US" sz="1100" dirty="0">
                <a:solidFill>
                  <a:srgbClr val="5C677D"/>
                </a:solidFill>
                <a:latin typeface="Microsoft YaHei"/>
              </a:rPr>
              <a:t>机械臂自带台灯功能，在学生学习时提供光照同时还能语音控制亮度和颜色</a:t>
            </a:r>
            <a:endParaRPr sz="1100" b="0" dirty="0">
              <a:solidFill>
                <a:srgbClr val="5C677D"/>
              </a:solidFill>
              <a:latin typeface="Microsoft YaHei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345166" y="1783080"/>
            <a:ext cx="2039113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482328" y="1984248"/>
            <a:ext cx="310896" cy="310896"/>
          </a:xfrm>
          <a:prstGeom prst="ellipse">
            <a:avLst/>
          </a:prstGeom>
          <a:solidFill>
            <a:srgbClr val="69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82328" y="2048256"/>
            <a:ext cx="310896" cy="91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57232" y="1965960"/>
            <a:ext cx="1207008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1">
                <a:solidFill>
                  <a:srgbClr val="141A2E"/>
                </a:solidFill>
                <a:latin typeface="Microsoft YaHei"/>
              </a:rPr>
              <a:t>人脸追踪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57232" y="2167128"/>
            <a:ext cx="1207008" cy="329184"/>
          </a:xfrm>
          <a:prstGeom prst="rect">
            <a:avLst/>
          </a:prstGeom>
          <a:noFill/>
        </p:spPr>
        <p:txBody>
          <a:bodyPr wrap="square" lIns="36576" tIns="36576" r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altLang="en-US" sz="900" dirty="0">
                <a:solidFill>
                  <a:srgbClr val="5C677D"/>
                </a:solidFill>
                <a:latin typeface="Microsoft YaHei"/>
              </a:rPr>
              <a:t>在孩子学习过程中，机械臂，可以通过摄像头获取到其面部信息，让家长更加方便的掌握孩子的学习状况</a:t>
            </a:r>
            <a:endParaRPr sz="900" b="0" dirty="0">
              <a:solidFill>
                <a:srgbClr val="5C677D"/>
              </a:solidFill>
              <a:latin typeface="Microsoft YaHei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58368" y="3246120"/>
            <a:ext cx="3813048" cy="31565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0120" y="3493008"/>
            <a:ext cx="2560320" cy="23774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41A2E"/>
                </a:solidFill>
                <a:latin typeface="Microsoft YaHei"/>
              </a:rPr>
              <a:t>传统屏幕式辅学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0" y="3219999"/>
            <a:ext cx="6812280" cy="31729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846320" y="3493008"/>
            <a:ext cx="2743200" cy="23774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41A2E"/>
                </a:solidFill>
                <a:latin typeface="Microsoft YaHei"/>
              </a:rPr>
              <a:t>本项目的具身辅学流程</a:t>
            </a:r>
          </a:p>
        </p:txBody>
      </p:sp>
      <p:sp>
        <p:nvSpPr>
          <p:cNvPr id="50" name="Oval 49"/>
          <p:cNvSpPr/>
          <p:nvPr/>
        </p:nvSpPr>
        <p:spPr>
          <a:xfrm>
            <a:off x="4892040" y="3977639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892040" y="4123944"/>
            <a:ext cx="512064" cy="1097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看见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27448" y="4535424"/>
            <a:ext cx="841248" cy="164592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20000"/>
          </a:bodyPr>
          <a:lstStyle/>
          <a:p>
            <a:pPr algn="ctr">
              <a:lnSpc>
                <a:spcPct val="105000"/>
              </a:lnSpc>
            </a:pPr>
            <a:r>
              <a:rPr sz="710" b="0">
                <a:solidFill>
                  <a:srgbClr val="5C677D"/>
                </a:solidFill>
                <a:latin typeface="Microsoft YaHei"/>
              </a:rPr>
              <a:t>视觉/深度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404104" y="4233672"/>
            <a:ext cx="310896" cy="0"/>
          </a:xfrm>
          <a:prstGeom prst="line">
            <a:avLst/>
          </a:prstGeom>
          <a:ln w="127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6035040" y="3977639"/>
            <a:ext cx="512064" cy="512064"/>
          </a:xfrm>
          <a:prstGeom prst="ellipse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035040" y="4123944"/>
            <a:ext cx="512064" cy="1097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理解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70448" y="4535424"/>
            <a:ext cx="841248" cy="164592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20000"/>
          </a:bodyPr>
          <a:lstStyle/>
          <a:p>
            <a:pPr algn="ctr">
              <a:lnSpc>
                <a:spcPct val="105000"/>
              </a:lnSpc>
            </a:pPr>
            <a:r>
              <a:rPr sz="710" b="0">
                <a:solidFill>
                  <a:srgbClr val="5C677D"/>
                </a:solidFill>
                <a:latin typeface="Microsoft YaHei"/>
              </a:rPr>
              <a:t>OCR/大模型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547104" y="4233672"/>
            <a:ext cx="310896" cy="0"/>
          </a:xfrm>
          <a:prstGeom prst="line">
            <a:avLst/>
          </a:prstGeom>
          <a:ln w="127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7178040" y="3977639"/>
            <a:ext cx="512064" cy="512064"/>
          </a:xfrm>
          <a:prstGeom prst="ellipse">
            <a:avLst/>
          </a:prstGeom>
          <a:solidFill>
            <a:srgbClr val="29B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178040" y="4123944"/>
            <a:ext cx="512064" cy="1097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规划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13448" y="4535424"/>
            <a:ext cx="841248" cy="164592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20000"/>
          </a:bodyPr>
          <a:lstStyle/>
          <a:p>
            <a:pPr algn="ctr">
              <a:lnSpc>
                <a:spcPct val="105000"/>
              </a:lnSpc>
            </a:pPr>
            <a:r>
              <a:rPr sz="710" b="0">
                <a:solidFill>
                  <a:srgbClr val="5C677D"/>
                </a:solidFill>
                <a:latin typeface="Microsoft YaHei"/>
              </a:rPr>
              <a:t>Agent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690104" y="4233672"/>
            <a:ext cx="310896" cy="0"/>
          </a:xfrm>
          <a:prstGeom prst="line">
            <a:avLst/>
          </a:prstGeom>
          <a:ln w="127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8321040" y="3977639"/>
            <a:ext cx="512064" cy="512064"/>
          </a:xfrm>
          <a:prstGeom prst="ellipse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321040" y="4123944"/>
            <a:ext cx="512064" cy="1097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执行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56448" y="4535424"/>
            <a:ext cx="841248" cy="164592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20000"/>
          </a:bodyPr>
          <a:lstStyle/>
          <a:p>
            <a:pPr algn="ctr">
              <a:lnSpc>
                <a:spcPct val="105000"/>
              </a:lnSpc>
            </a:pPr>
            <a:r>
              <a:rPr sz="710" b="0">
                <a:solidFill>
                  <a:srgbClr val="5C677D"/>
                </a:solidFill>
                <a:latin typeface="Microsoft YaHei"/>
              </a:rPr>
              <a:t>机械臂/灯光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8833104" y="4233672"/>
            <a:ext cx="310896" cy="0"/>
          </a:xfrm>
          <a:prstGeom prst="line">
            <a:avLst/>
          </a:prstGeom>
          <a:ln w="127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9464040" y="3977639"/>
            <a:ext cx="512064" cy="512064"/>
          </a:xfrm>
          <a:prstGeom prst="ellipse">
            <a:avLst/>
          </a:prstGeom>
          <a:solidFill>
            <a:srgbClr val="69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464040" y="4123944"/>
            <a:ext cx="512064" cy="1097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反馈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99448" y="4535424"/>
            <a:ext cx="841248" cy="164592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 lnSpcReduction="20000"/>
          </a:bodyPr>
          <a:lstStyle/>
          <a:p>
            <a:pPr algn="ctr">
              <a:lnSpc>
                <a:spcPct val="105000"/>
              </a:lnSpc>
            </a:pPr>
            <a:r>
              <a:rPr sz="710" b="0">
                <a:solidFill>
                  <a:srgbClr val="5C677D"/>
                </a:solidFill>
                <a:latin typeface="Microsoft YaHei"/>
              </a:rPr>
              <a:t>状态/结果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6510528"/>
            <a:ext cx="10789920" cy="10972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02920" y="6565392"/>
            <a:ext cx="576072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0">
                <a:solidFill>
                  <a:srgbClr val="8A94A6"/>
                </a:solidFill>
                <a:latin typeface="Microsoft YaHei"/>
              </a:rPr>
              <a:t>基于瑞萨 RA6M5 的多模态 AI 机械臂辅学系统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700" b="1">
                <a:solidFill>
                  <a:srgbClr val="8A94A6"/>
                </a:solidFill>
                <a:latin typeface="Microsoft YaHei"/>
              </a:rPr>
              <a:t>04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6F1F78C7-2109-F5B0-6B85-FFF5FE2C34C0}"/>
              </a:ext>
            </a:extLst>
          </p:cNvPr>
          <p:cNvSpPr txBox="1"/>
          <p:nvPr/>
        </p:nvSpPr>
        <p:spPr>
          <a:xfrm>
            <a:off x="849745" y="3814618"/>
            <a:ext cx="326505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00" dirty="0">
                <a:latin typeface="+mj-ea"/>
                <a:ea typeface="+mj-ea"/>
              </a:rPr>
              <a:t>当前低龄儿童学习工具普遍停留在</a:t>
            </a:r>
            <a:r>
              <a:rPr lang="en-US" altLang="zh-CN" sz="1400" dirty="0">
                <a:latin typeface="+mj-ea"/>
                <a:ea typeface="+mj-ea"/>
              </a:rPr>
              <a:t>“</a:t>
            </a:r>
            <a:r>
              <a:rPr lang="zh-CN" altLang="zh-CN" sz="1400" dirty="0">
                <a:latin typeface="+mj-ea"/>
                <a:ea typeface="+mj-ea"/>
              </a:rPr>
              <a:t>屏幕问答</a:t>
            </a:r>
            <a:r>
              <a:rPr lang="en-US" altLang="zh-CN" sz="1400" dirty="0">
                <a:latin typeface="+mj-ea"/>
                <a:ea typeface="+mj-ea"/>
              </a:rPr>
              <a:t>”</a:t>
            </a:r>
            <a:r>
              <a:rPr lang="zh-CN" altLang="zh-CN" sz="1400" dirty="0">
                <a:latin typeface="+mj-ea"/>
                <a:ea typeface="+mj-ea"/>
              </a:rPr>
              <a:t>和</a:t>
            </a:r>
            <a:r>
              <a:rPr lang="en-US" altLang="zh-CN" sz="1400" dirty="0">
                <a:latin typeface="+mj-ea"/>
                <a:ea typeface="+mj-ea"/>
              </a:rPr>
              <a:t>“</a:t>
            </a:r>
            <a:r>
              <a:rPr lang="zh-CN" altLang="zh-CN" sz="1400" dirty="0">
                <a:latin typeface="+mj-ea"/>
                <a:ea typeface="+mj-ea"/>
              </a:rPr>
              <a:t>语音播报</a:t>
            </a:r>
            <a:r>
              <a:rPr lang="en-US" altLang="zh-CN" sz="1400" dirty="0">
                <a:latin typeface="+mj-ea"/>
                <a:ea typeface="+mj-ea"/>
              </a:rPr>
              <a:t>”</a:t>
            </a:r>
            <a:r>
              <a:rPr lang="zh-CN" altLang="zh-CN" sz="1400" dirty="0">
                <a:latin typeface="+mj-ea"/>
                <a:ea typeface="+mj-ea"/>
              </a:rPr>
              <a:t>层面，孩子会得到答案，却缺少看得见、摸得着、能互动的实体学习过程；</a:t>
            </a:r>
            <a:r>
              <a:rPr lang="zh-CN" altLang="en-US" sz="1400" dirty="0">
                <a:latin typeface="+mn-ea"/>
                <a:ea typeface="+mj-ea"/>
              </a:rPr>
              <a:t>并且孩子们</a:t>
            </a:r>
            <a:r>
              <a:rPr lang="zh-CN" altLang="zh-CN" sz="1400" dirty="0">
                <a:latin typeface="+mn-ea"/>
              </a:rPr>
              <a:t>处于认知发展的关键阶段，很多概念不是只靠</a:t>
            </a:r>
            <a:r>
              <a:rPr lang="en-US" altLang="zh-CN" sz="1400" dirty="0">
                <a:latin typeface="+mn-ea"/>
              </a:rPr>
              <a:t>“</a:t>
            </a:r>
            <a:r>
              <a:rPr lang="zh-CN" altLang="zh-CN" sz="1400" dirty="0">
                <a:latin typeface="+mn-ea"/>
              </a:rPr>
              <a:t>听懂</a:t>
            </a:r>
            <a:r>
              <a:rPr lang="en-US" altLang="zh-CN" sz="1400" dirty="0">
                <a:latin typeface="+mn-ea"/>
              </a:rPr>
              <a:t>”</a:t>
            </a:r>
            <a:r>
              <a:rPr lang="zh-CN" altLang="zh-CN" sz="1400" dirty="0">
                <a:latin typeface="+mn-ea"/>
              </a:rPr>
              <a:t>就能真正理解，而是需要在看、摸、拿、分、摆的过程中慢慢建立起来。</a:t>
            </a:r>
            <a:r>
              <a:rPr lang="zh-CN" altLang="en-US" sz="1400" dirty="0">
                <a:latin typeface="+mn-ea"/>
              </a:rPr>
              <a:t>同时</a:t>
            </a:r>
            <a:r>
              <a:rPr lang="zh-CN" altLang="zh-CN" sz="1400" dirty="0">
                <a:latin typeface="+mj-ea"/>
              </a:rPr>
              <a:t>家长也仍要承担拿物品、调环境、提醒专注、安抚情绪等大量高频陪伴事务。</a:t>
            </a:r>
            <a:endParaRPr lang="zh-CN" altLang="en-US" sz="1400" dirty="0">
              <a:latin typeface="+mn-ea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B2690B61-C443-9C9B-B15E-0EB4A6419C6C}"/>
              </a:ext>
            </a:extLst>
          </p:cNvPr>
          <p:cNvSpPr txBox="1"/>
          <p:nvPr/>
        </p:nvSpPr>
        <p:spPr>
          <a:xfrm>
            <a:off x="4681127" y="4654918"/>
            <a:ext cx="6594025" cy="1657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zh-CN" altLang="zh-CN" sz="1400" kern="100" dirty="0">
                <a:effectLst/>
                <a:latin typeface="+mn-ea"/>
              </a:rPr>
              <a:t>针对这一现象，本项目将</a:t>
            </a:r>
            <a:r>
              <a:rPr lang="en-US" altLang="zh-CN" sz="1400" kern="100" dirty="0">
                <a:effectLst/>
                <a:latin typeface="+mn-ea"/>
              </a:rPr>
              <a:t> AI </a:t>
            </a:r>
            <a:r>
              <a:rPr lang="zh-CN" altLang="zh-CN" sz="1400" kern="100" dirty="0">
                <a:effectLst/>
                <a:latin typeface="+mn-ea"/>
              </a:rPr>
              <a:t>大模型、视觉识别、语音交互与机械臂动作结合，让系统不仅能讲题，还能拍题、递物、调光、分类、反馈和陪伴，形成</a:t>
            </a:r>
            <a:r>
              <a:rPr lang="en-US" altLang="zh-CN" sz="1400" kern="100" dirty="0">
                <a:effectLst/>
                <a:latin typeface="+mn-ea"/>
              </a:rPr>
              <a:t>“</a:t>
            </a:r>
            <a:r>
              <a:rPr lang="zh-CN" altLang="zh-CN" sz="1400" kern="100" dirty="0">
                <a:effectLst/>
                <a:latin typeface="+mn-ea"/>
              </a:rPr>
              <a:t>感知</a:t>
            </a:r>
            <a:r>
              <a:rPr lang="en-US" altLang="zh-CN" sz="1400" kern="100" dirty="0">
                <a:effectLst/>
                <a:latin typeface="+mn-ea"/>
              </a:rPr>
              <a:t>—</a:t>
            </a:r>
            <a:r>
              <a:rPr lang="zh-CN" altLang="zh-CN" sz="1400" kern="100" dirty="0">
                <a:effectLst/>
                <a:latin typeface="+mn-ea"/>
              </a:rPr>
              <a:t>理解</a:t>
            </a:r>
            <a:r>
              <a:rPr lang="en-US" altLang="zh-CN" sz="1400" kern="100" dirty="0">
                <a:effectLst/>
                <a:latin typeface="+mn-ea"/>
              </a:rPr>
              <a:t>—</a:t>
            </a:r>
            <a:r>
              <a:rPr lang="zh-CN" altLang="zh-CN" sz="1400" kern="100" dirty="0">
                <a:effectLst/>
                <a:latin typeface="+mn-ea"/>
              </a:rPr>
              <a:t>执行</a:t>
            </a:r>
            <a:r>
              <a:rPr lang="en-US" altLang="zh-CN" sz="1400" kern="100" dirty="0">
                <a:effectLst/>
                <a:latin typeface="+mn-ea"/>
              </a:rPr>
              <a:t>”</a:t>
            </a:r>
            <a:r>
              <a:rPr lang="zh-CN" altLang="zh-CN" sz="1400" kern="100" dirty="0">
                <a:effectLst/>
                <a:latin typeface="+mn-ea"/>
              </a:rPr>
              <a:t>的闭环。其现实意义在于：</a:t>
            </a:r>
            <a:r>
              <a:rPr lang="zh-CN" altLang="zh-CN" sz="1400" b="1" kern="100" dirty="0">
                <a:effectLst/>
                <a:latin typeface="+mn-ea"/>
              </a:rPr>
              <a:t>把</a:t>
            </a:r>
            <a:r>
              <a:rPr lang="en-US" altLang="zh-CN" sz="1400" b="1" kern="100" dirty="0">
                <a:effectLst/>
                <a:latin typeface="+mn-ea"/>
              </a:rPr>
              <a:t> AI </a:t>
            </a:r>
            <a:r>
              <a:rPr lang="zh-CN" altLang="zh-CN" sz="1400" b="1" kern="100" dirty="0">
                <a:effectLst/>
                <a:latin typeface="+mn-ea"/>
              </a:rPr>
              <a:t>辅学从信息工具升级为具身学习伙伴，增强儿童参与感、动手理解能力和学习获得感，同时减轻家庭重复性陪伴压力，为低龄</a:t>
            </a:r>
            <a:r>
              <a:rPr lang="en-US" altLang="zh-CN" sz="1400" b="1" kern="100" dirty="0">
                <a:effectLst/>
                <a:latin typeface="+mn-ea"/>
              </a:rPr>
              <a:t> AI </a:t>
            </a:r>
            <a:r>
              <a:rPr lang="zh-CN" altLang="zh-CN" sz="1400" b="1" kern="100" dirty="0">
                <a:effectLst/>
                <a:latin typeface="+mn-ea"/>
              </a:rPr>
              <a:t>教育和教育机器人应用提供可落地样机。</a:t>
            </a:r>
            <a:endParaRPr lang="zh-CN" altLang="zh-CN" sz="1400" kern="100" dirty="0">
              <a:effectLst/>
              <a:latin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11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5029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424160" y="-1051560"/>
            <a:ext cx="3108960" cy="3108960"/>
          </a:xfrm>
          <a:prstGeom prst="ellipse">
            <a:avLst/>
          </a:prstGeom>
          <a:noFill/>
          <a:ln w="12700">
            <a:solidFill>
              <a:srgbClr val="E1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0" y="-502920"/>
            <a:ext cx="2011680" cy="2011680"/>
          </a:xfrm>
          <a:prstGeom prst="ellipse">
            <a:avLst/>
          </a:prstGeom>
          <a:noFill/>
          <a:ln w="12700">
            <a:solidFill>
              <a:srgbClr val="EC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0934" y="32668"/>
            <a:ext cx="3671916" cy="559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dirty="0">
                <a:solidFill>
                  <a:srgbClr val="1F6FEB"/>
                </a:solidFill>
                <a:latin typeface="Microsoft YaHei"/>
              </a:rPr>
              <a:t>02｜系统方案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6928"/>
            <a:ext cx="7955279" cy="37728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dirty="0" err="1">
                <a:solidFill>
                  <a:srgbClr val="141A2E"/>
                </a:solidFill>
                <a:latin typeface="Microsoft YaHei"/>
              </a:rPr>
              <a:t>系统框架｜一条闭环串起算法、软件与硬件</a:t>
            </a:r>
            <a:endParaRPr sz="2000" b="1" dirty="0">
              <a:solidFill>
                <a:srgbClr val="141A2E"/>
              </a:solidFill>
              <a:latin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" y="1033271"/>
            <a:ext cx="978408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C677D"/>
                </a:solidFill>
                <a:latin typeface="Microsoft YaHei"/>
              </a:rPr>
              <a:t>总体采用“多模态输入—智能处理—嵌入式控制—机械执行—状态反馈”的分层架构。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310896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1F6FEB"/>
                </a:solidFill>
                <a:latin typeface="Microsoft YaHei"/>
              </a:rPr>
              <a:t>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10881360" cy="16459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38328" y="1506931"/>
            <a:ext cx="5394960" cy="3642969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62" y="1644092"/>
            <a:ext cx="4945145" cy="315121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01802" y="4793024"/>
            <a:ext cx="4709160" cy="237744"/>
          </a:xfrm>
          <a:prstGeom prst="rect">
            <a:avLst/>
          </a:prstGeom>
          <a:solidFill>
            <a:srgbClr val="111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964" y="4821937"/>
            <a:ext cx="4489704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720" b="1">
                <a:solidFill>
                  <a:srgbClr val="FFFFFF"/>
                </a:solidFill>
                <a:latin typeface="Microsoft YaHei"/>
              </a:rPr>
              <a:t>系统总体架构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760" y="1525220"/>
            <a:ext cx="521208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39671" y="1562792"/>
            <a:ext cx="73152" cy="7132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8720" y="1773104"/>
            <a:ext cx="128016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dirty="0" err="1">
                <a:solidFill>
                  <a:srgbClr val="141A2E"/>
                </a:solidFill>
                <a:latin typeface="Microsoft YaHei"/>
              </a:rPr>
              <a:t>多模态输入</a:t>
            </a:r>
            <a:endParaRPr sz="1150" b="1" dirty="0">
              <a:solidFill>
                <a:srgbClr val="141A2E"/>
              </a:solidFill>
              <a:latin typeface="Microsoft Ya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35591" y="1662379"/>
            <a:ext cx="333756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dirty="0" err="1">
                <a:solidFill>
                  <a:srgbClr val="5C677D"/>
                </a:solidFill>
                <a:latin typeface="Microsoft YaHei"/>
              </a:rPr>
              <a:t>摄像头、麦克风、超声波、红外、OLED</a:t>
            </a:r>
            <a:r>
              <a:rPr sz="1200" b="0" dirty="0">
                <a:solidFill>
                  <a:srgbClr val="5C677D"/>
                </a:solidFill>
                <a:latin typeface="Microsoft YaHei"/>
              </a:rPr>
              <a:t> / RGB </a:t>
            </a:r>
            <a:r>
              <a:rPr sz="1200" b="0" dirty="0" err="1">
                <a:solidFill>
                  <a:srgbClr val="5C677D"/>
                </a:solidFill>
                <a:latin typeface="Microsoft YaHei"/>
              </a:rPr>
              <a:t>状态显示</a:t>
            </a:r>
            <a:endParaRPr sz="1200" b="0" dirty="0">
              <a:solidFill>
                <a:srgbClr val="5C677D"/>
              </a:solidFill>
              <a:latin typeface="Microsoft YaHe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39671" y="2549209"/>
            <a:ext cx="521208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35898" y="2549209"/>
            <a:ext cx="73152" cy="713232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67649" y="2769426"/>
            <a:ext cx="128016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dirty="0" err="1">
                <a:solidFill>
                  <a:srgbClr val="141A2E"/>
                </a:solidFill>
                <a:latin typeface="Microsoft YaHei"/>
              </a:rPr>
              <a:t>智能处理</a:t>
            </a:r>
            <a:endParaRPr sz="1150" b="1" dirty="0">
              <a:solidFill>
                <a:srgbClr val="141A2E"/>
              </a:solidFill>
              <a:latin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66533" y="2705488"/>
            <a:ext cx="333756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dirty="0">
                <a:solidFill>
                  <a:srgbClr val="5C677D"/>
                </a:solidFill>
                <a:latin typeface="Microsoft YaHei"/>
              </a:rPr>
              <a:t>YOLO11 </a:t>
            </a:r>
            <a:r>
              <a:rPr sz="1200" b="0" dirty="0" err="1">
                <a:solidFill>
                  <a:srgbClr val="5C677D"/>
                </a:solidFill>
                <a:latin typeface="Microsoft YaHei"/>
              </a:rPr>
              <a:t>目标</a:t>
            </a:r>
            <a:r>
              <a:rPr sz="1200" b="0" dirty="0">
                <a:solidFill>
                  <a:srgbClr val="5C677D"/>
                </a:solidFill>
                <a:latin typeface="Microsoft YaHei"/>
              </a:rPr>
              <a:t>/</a:t>
            </a:r>
            <a:r>
              <a:rPr sz="1200" b="0" dirty="0" err="1">
                <a:solidFill>
                  <a:srgbClr val="5C677D"/>
                </a:solidFill>
                <a:latin typeface="Microsoft YaHei"/>
              </a:rPr>
              <a:t>文字区域检测、OCR、Agent</a:t>
            </a:r>
            <a:r>
              <a:rPr sz="1200" b="0" dirty="0">
                <a:solidFill>
                  <a:srgbClr val="5C677D"/>
                </a:solidFill>
                <a:latin typeface="Microsoft YaHei"/>
              </a:rPr>
              <a:t> </a:t>
            </a:r>
            <a:r>
              <a:rPr sz="1200" b="0" dirty="0" err="1">
                <a:solidFill>
                  <a:srgbClr val="5C677D"/>
                </a:solidFill>
                <a:latin typeface="Microsoft YaHei"/>
              </a:rPr>
              <a:t>任务规划</a:t>
            </a:r>
            <a:endParaRPr sz="1200" b="0" dirty="0">
              <a:solidFill>
                <a:srgbClr val="5C677D"/>
              </a:solidFill>
              <a:latin typeface="Microsoft YaHe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25088" y="3537563"/>
            <a:ext cx="521208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31787" y="3507637"/>
            <a:ext cx="73152" cy="713232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67649" y="3806065"/>
            <a:ext cx="128016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dirty="0" err="1">
                <a:solidFill>
                  <a:srgbClr val="141A2E"/>
                </a:solidFill>
                <a:latin typeface="Microsoft YaHei"/>
              </a:rPr>
              <a:t>控制执行</a:t>
            </a:r>
            <a:endParaRPr sz="1150" b="1" dirty="0">
              <a:solidFill>
                <a:srgbClr val="141A2E"/>
              </a:solidFill>
              <a:latin typeface="Microsoft YaHe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470043" y="3710053"/>
            <a:ext cx="333756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dirty="0">
                <a:solidFill>
                  <a:srgbClr val="5C677D"/>
                </a:solidFill>
                <a:latin typeface="Microsoft YaHei"/>
              </a:rPr>
              <a:t>RA6M5 + </a:t>
            </a:r>
            <a:r>
              <a:rPr sz="1200" b="0" dirty="0" err="1">
                <a:solidFill>
                  <a:srgbClr val="5C677D"/>
                </a:solidFill>
                <a:latin typeface="Microsoft YaHei"/>
              </a:rPr>
              <a:t>FreeRTOS、舵机控制、运动学求解与安全策略</a:t>
            </a:r>
            <a:endParaRPr sz="1200" b="0" dirty="0">
              <a:solidFill>
                <a:srgbClr val="5C677D"/>
              </a:solidFill>
              <a:latin typeface="Microsoft YaHe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263640" y="4470834"/>
            <a:ext cx="521208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25088" y="4470834"/>
            <a:ext cx="73152" cy="713232"/>
          </a:xfrm>
          <a:prstGeom prst="rect">
            <a:avLst/>
          </a:prstGeom>
          <a:solidFill>
            <a:srgbClr val="69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67649" y="4727448"/>
            <a:ext cx="128016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dirty="0" err="1">
                <a:solidFill>
                  <a:srgbClr val="141A2E"/>
                </a:solidFill>
                <a:latin typeface="Microsoft YaHei"/>
              </a:rPr>
              <a:t>结果反馈</a:t>
            </a:r>
            <a:endParaRPr sz="1150" b="1" dirty="0">
              <a:solidFill>
                <a:srgbClr val="141A2E"/>
              </a:solidFill>
              <a:latin typeface="Microsoft YaHe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70043" y="4645152"/>
            <a:ext cx="333756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dirty="0">
                <a:solidFill>
                  <a:srgbClr val="5C677D"/>
                </a:solidFill>
                <a:latin typeface="Microsoft YaHei"/>
              </a:rPr>
              <a:t>Web </a:t>
            </a:r>
            <a:r>
              <a:rPr sz="1200" b="0" dirty="0" err="1">
                <a:solidFill>
                  <a:srgbClr val="5C677D"/>
                </a:solidFill>
                <a:latin typeface="Microsoft YaHei"/>
              </a:rPr>
              <a:t>可视化、语音播报、灯光提示、机械臂动作结果</a:t>
            </a:r>
            <a:endParaRPr sz="1200" b="0" dirty="0">
              <a:solidFill>
                <a:srgbClr val="5C677D"/>
              </a:solidFill>
              <a:latin typeface="Microsoft YaHei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76656" y="5257800"/>
            <a:ext cx="226771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76656" y="5276087"/>
            <a:ext cx="2267712" cy="640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4672" y="5433012"/>
            <a:ext cx="2048256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dirty="0">
                <a:solidFill>
                  <a:srgbClr val="1F6FEB"/>
                </a:solidFill>
                <a:latin typeface="Microsoft YaHei"/>
              </a:rPr>
              <a:t>RA6M5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5824728"/>
            <a:ext cx="201168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141A2E"/>
                </a:solidFill>
                <a:latin typeface="Microsoft YaHei"/>
              </a:rPr>
              <a:t>实时主控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" y="6182259"/>
            <a:ext cx="1938528" cy="274320"/>
          </a:xfrm>
          <a:prstGeom prst="rect">
            <a:avLst/>
          </a:prstGeom>
          <a:noFill/>
        </p:spPr>
        <p:txBody>
          <a:bodyPr wrap="square" lIns="36576" tIns="36576" r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400" b="0" dirty="0" err="1">
                <a:solidFill>
                  <a:srgbClr val="5C677D"/>
                </a:solidFill>
                <a:latin typeface="Microsoft YaHei"/>
              </a:rPr>
              <a:t>多外设通信与任务调度</a:t>
            </a:r>
            <a:endParaRPr sz="1400" b="0" dirty="0">
              <a:solidFill>
                <a:srgbClr val="5C677D"/>
              </a:solidFill>
              <a:latin typeface="Microsoft YaHei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3282696" y="5287061"/>
            <a:ext cx="226771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282696" y="5276087"/>
            <a:ext cx="2267712" cy="64008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56431" y="5416000"/>
            <a:ext cx="2048256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dirty="0">
                <a:solidFill>
                  <a:srgbClr val="20C997"/>
                </a:solidFill>
                <a:latin typeface="Microsoft YaHei"/>
              </a:rPr>
              <a:t>YOLO11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47288" y="5824728"/>
            <a:ext cx="201168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141A2E"/>
                </a:solidFill>
                <a:latin typeface="Microsoft YaHei"/>
              </a:rPr>
              <a:t>视觉核心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11295" y="6192316"/>
            <a:ext cx="1938528" cy="274320"/>
          </a:xfrm>
          <a:prstGeom prst="rect">
            <a:avLst/>
          </a:prstGeom>
          <a:noFill/>
        </p:spPr>
        <p:txBody>
          <a:bodyPr wrap="square" lIns="36576" tIns="36576" r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400" b="0" dirty="0" err="1">
                <a:solidFill>
                  <a:srgbClr val="5C677D"/>
                </a:solidFill>
                <a:latin typeface="Microsoft YaHei"/>
              </a:rPr>
              <a:t>面向文字区与目标检测</a:t>
            </a:r>
            <a:endParaRPr sz="1400" b="0" dirty="0">
              <a:solidFill>
                <a:srgbClr val="5C677D"/>
              </a:solidFill>
              <a:latin typeface="Microsoft YaHei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5925312" y="5294377"/>
            <a:ext cx="226771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925312" y="5266944"/>
            <a:ext cx="2267712" cy="64008"/>
          </a:xfrm>
          <a:prstGeom prst="rect">
            <a:avLst/>
          </a:prstGeom>
          <a:solidFill>
            <a:srgbClr val="69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35040" y="5349240"/>
            <a:ext cx="2048256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695CFF"/>
                </a:solidFill>
                <a:latin typeface="Microsoft YaHei"/>
              </a:rPr>
              <a:t>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53328" y="5824728"/>
            <a:ext cx="201168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141A2E"/>
                </a:solidFill>
                <a:latin typeface="Microsoft YaHei"/>
              </a:rPr>
              <a:t>任务中枢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05293" y="6181344"/>
            <a:ext cx="2368295" cy="274320"/>
          </a:xfrm>
          <a:prstGeom prst="rect">
            <a:avLst/>
          </a:prstGeom>
          <a:noFill/>
        </p:spPr>
        <p:txBody>
          <a:bodyPr wrap="square" lIns="36576" tIns="36576" r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400" b="0" dirty="0" err="1">
                <a:solidFill>
                  <a:srgbClr val="5C677D"/>
                </a:solidFill>
                <a:latin typeface="Microsoft YaHei"/>
              </a:rPr>
              <a:t>自然语言转化为可执行步骤</a:t>
            </a:r>
            <a:endParaRPr sz="1400" b="0" dirty="0">
              <a:solidFill>
                <a:srgbClr val="5C677D"/>
              </a:solidFill>
              <a:latin typeface="Microsoft YaHei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8539891" y="5276088"/>
            <a:ext cx="226771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8" name="Rectangle 47"/>
          <p:cNvSpPr/>
          <p:nvPr/>
        </p:nvSpPr>
        <p:spPr>
          <a:xfrm>
            <a:off x="8552175" y="5257800"/>
            <a:ext cx="2267712" cy="64008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649619" y="5385816"/>
            <a:ext cx="2048256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dirty="0" err="1">
                <a:solidFill>
                  <a:srgbClr val="FFB74D"/>
                </a:solidFill>
                <a:latin typeface="Microsoft YaHei"/>
              </a:rPr>
              <a:t>机械臂</a:t>
            </a:r>
            <a:endParaRPr sz="2200" b="1" dirty="0">
              <a:solidFill>
                <a:srgbClr val="FFB74D"/>
              </a:solidFill>
              <a:latin typeface="Microsoft YaHe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659368" y="5824728"/>
            <a:ext cx="201168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>
              <a:lnSpc>
                <a:spcPct val="105000"/>
              </a:lnSpc>
            </a:pPr>
            <a:r>
              <a:rPr sz="919" b="1" dirty="0" err="1">
                <a:solidFill>
                  <a:srgbClr val="141A2E"/>
                </a:solidFill>
                <a:latin typeface="Microsoft YaHei"/>
              </a:rPr>
              <a:t>实体输出</a:t>
            </a:r>
            <a:endParaRPr sz="919" b="1" dirty="0">
              <a:solidFill>
                <a:srgbClr val="141A2E"/>
              </a:solidFill>
              <a:latin typeface="Microsoft YaHe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474086" y="6182259"/>
            <a:ext cx="2500884" cy="274320"/>
          </a:xfrm>
          <a:prstGeom prst="rect">
            <a:avLst/>
          </a:prstGeom>
          <a:noFill/>
        </p:spPr>
        <p:txBody>
          <a:bodyPr wrap="square" lIns="36576" tIns="36576" rIns="36576" bIns="36576">
            <a:noAutofit/>
          </a:bodyPr>
          <a:lstStyle/>
          <a:p>
            <a:pPr algn="ctr">
              <a:lnSpc>
                <a:spcPct val="105000"/>
              </a:lnSpc>
            </a:pPr>
            <a:r>
              <a:rPr sz="1400" b="0" dirty="0" err="1">
                <a:solidFill>
                  <a:srgbClr val="5C677D"/>
                </a:solidFill>
                <a:latin typeface="Microsoft YaHei"/>
              </a:rPr>
              <a:t>抓取、指向、调整视角与反馈</a:t>
            </a:r>
            <a:endParaRPr sz="1400" b="0" dirty="0">
              <a:solidFill>
                <a:srgbClr val="5C677D"/>
              </a:solidFill>
              <a:latin typeface="Microsoft YaHei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502920" y="6510528"/>
            <a:ext cx="10789920" cy="10972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2920" y="6565392"/>
            <a:ext cx="576072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0">
                <a:solidFill>
                  <a:srgbClr val="8A94A6"/>
                </a:solidFill>
                <a:latin typeface="Microsoft YaHei"/>
              </a:rPr>
              <a:t>基于瑞萨 RA6M5 的多模态 AI 机械臂辅学系统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700" b="1">
                <a:solidFill>
                  <a:srgbClr val="8A94A6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11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5029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424160" y="-1051560"/>
            <a:ext cx="3108960" cy="3108960"/>
          </a:xfrm>
          <a:prstGeom prst="ellipse">
            <a:avLst/>
          </a:prstGeom>
          <a:noFill/>
          <a:ln w="12700">
            <a:solidFill>
              <a:srgbClr val="E1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0" y="-502920"/>
            <a:ext cx="2011680" cy="2011680"/>
          </a:xfrm>
          <a:prstGeom prst="ellipse">
            <a:avLst/>
          </a:prstGeom>
          <a:noFill/>
          <a:ln w="12700">
            <a:solidFill>
              <a:srgbClr val="EC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5993" y="60868"/>
            <a:ext cx="3311698" cy="559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dirty="0">
                <a:solidFill>
                  <a:srgbClr val="1F6FEB"/>
                </a:solidFill>
                <a:latin typeface="Microsoft YaHei"/>
              </a:rPr>
              <a:t>02｜系统方案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6928"/>
            <a:ext cx="7955279" cy="37728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dirty="0" err="1">
                <a:solidFill>
                  <a:srgbClr val="141A2E"/>
                </a:solidFill>
                <a:latin typeface="Microsoft YaHei"/>
              </a:rPr>
              <a:t>工作流程｜从“提出问题”到“机械臂完成动作</a:t>
            </a:r>
            <a:r>
              <a:rPr sz="2000" b="1" dirty="0">
                <a:solidFill>
                  <a:srgbClr val="141A2E"/>
                </a:solidFill>
                <a:latin typeface="Microsoft YaHei"/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033271"/>
            <a:ext cx="978408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C677D"/>
                </a:solidFill>
                <a:latin typeface="Microsoft YaHei"/>
              </a:rPr>
              <a:t>通过任务链路拆解，系统能把自然语言和视觉信息转化为可验证的执行步骤。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310896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1F6FEB"/>
                </a:solidFill>
                <a:latin typeface="Microsoft YaHei"/>
              </a:rPr>
              <a:t>06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10881360" cy="16459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03504" y="1847088"/>
            <a:ext cx="1572768" cy="10607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68096" y="202082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" y="2075688"/>
            <a:ext cx="384048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2029968"/>
            <a:ext cx="795528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40" b="1">
                <a:solidFill>
                  <a:srgbClr val="141A2E"/>
                </a:solidFill>
                <a:latin typeface="Microsoft YaHei"/>
              </a:rPr>
              <a:t>用户输入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" y="2322576"/>
            <a:ext cx="749808" cy="466343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>
              <a:lnSpc>
                <a:spcPct val="105000"/>
              </a:lnSpc>
            </a:pPr>
            <a:r>
              <a:rPr sz="1100" b="0" dirty="0" err="1">
                <a:solidFill>
                  <a:srgbClr val="5C677D"/>
                </a:solidFill>
                <a:latin typeface="Microsoft YaHei"/>
              </a:rPr>
              <a:t>语音提问</a:t>
            </a:r>
            <a:r>
              <a:rPr sz="1100" b="0" dirty="0">
                <a:solidFill>
                  <a:srgbClr val="5C677D"/>
                </a:solidFill>
                <a:latin typeface="Microsoft YaHei"/>
              </a:rPr>
              <a:t> / </a:t>
            </a:r>
            <a:r>
              <a:rPr sz="1100" b="0" dirty="0" err="1">
                <a:solidFill>
                  <a:srgbClr val="5C677D"/>
                </a:solidFill>
                <a:latin typeface="Microsoft YaHei"/>
              </a:rPr>
              <a:t>图像采集</a:t>
            </a:r>
            <a:endParaRPr sz="1100" b="0" dirty="0">
              <a:solidFill>
                <a:srgbClr val="5C677D"/>
              </a:solidFill>
              <a:latin typeface="Microsoft YaHei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2176272" y="2377440"/>
            <a:ext cx="237744" cy="0"/>
          </a:xfrm>
          <a:prstGeom prst="line">
            <a:avLst/>
          </a:prstGeom>
          <a:ln w="139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459736" y="1847088"/>
            <a:ext cx="1572768" cy="10607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624328" y="2020824"/>
            <a:ext cx="384048" cy="384048"/>
          </a:xfrm>
          <a:prstGeom prst="ellipse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24328" y="2075688"/>
            <a:ext cx="384048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9815" y="2029968"/>
            <a:ext cx="795528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40" b="1">
                <a:solidFill>
                  <a:srgbClr val="141A2E"/>
                </a:solidFill>
                <a:latin typeface="Microsoft YaHei"/>
              </a:rPr>
              <a:t>目标识别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54095" y="2312392"/>
            <a:ext cx="978408" cy="466343"/>
          </a:xfrm>
          <a:prstGeom prst="rect">
            <a:avLst/>
          </a:prstGeom>
          <a:noFill/>
        </p:spPr>
        <p:txBody>
          <a:bodyPr wrap="square" lIns="36576" tIns="36576" r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dirty="0">
                <a:solidFill>
                  <a:srgbClr val="5C677D"/>
                </a:solidFill>
                <a:latin typeface="Microsoft YaHei"/>
              </a:rPr>
              <a:t>YOLO11 </a:t>
            </a:r>
            <a:r>
              <a:rPr sz="1100" b="0" dirty="0" err="1">
                <a:solidFill>
                  <a:srgbClr val="5C677D"/>
                </a:solidFill>
                <a:latin typeface="Microsoft YaHei"/>
              </a:rPr>
              <a:t>框选目标与文字区域</a:t>
            </a:r>
            <a:endParaRPr sz="1100" b="0" dirty="0">
              <a:solidFill>
                <a:srgbClr val="5C677D"/>
              </a:solidFill>
              <a:latin typeface="Microsoft YaHei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4032504" y="2377440"/>
            <a:ext cx="237744" cy="0"/>
          </a:xfrm>
          <a:prstGeom prst="line">
            <a:avLst/>
          </a:prstGeom>
          <a:ln w="139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315968" y="1847088"/>
            <a:ext cx="1572768" cy="10607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480559" y="2020824"/>
            <a:ext cx="384048" cy="384048"/>
          </a:xfrm>
          <a:prstGeom prst="ellipse">
            <a:avLst/>
          </a:prstGeom>
          <a:solidFill>
            <a:srgbClr val="29B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80559" y="2075688"/>
            <a:ext cx="384048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6048" y="2029968"/>
            <a:ext cx="795528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40" b="1">
                <a:solidFill>
                  <a:srgbClr val="141A2E"/>
                </a:solidFill>
                <a:latin typeface="Microsoft YaHei"/>
              </a:rPr>
              <a:t>内容理解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6612" y="2307404"/>
            <a:ext cx="854963" cy="466343"/>
          </a:xfrm>
          <a:prstGeom prst="rect">
            <a:avLst/>
          </a:prstGeom>
          <a:noFill/>
        </p:spPr>
        <p:txBody>
          <a:bodyPr wrap="square" lIns="36576" tIns="36576" r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dirty="0">
                <a:solidFill>
                  <a:srgbClr val="5C677D"/>
                </a:solidFill>
                <a:latin typeface="Microsoft YaHei"/>
              </a:rPr>
              <a:t>OCR + </a:t>
            </a:r>
            <a:r>
              <a:rPr sz="1100" b="0" dirty="0" err="1">
                <a:solidFill>
                  <a:srgbClr val="5C677D"/>
                </a:solidFill>
                <a:latin typeface="Microsoft YaHei"/>
              </a:rPr>
              <a:t>大模型分析题意</a:t>
            </a:r>
            <a:endParaRPr sz="1100" b="0" dirty="0">
              <a:solidFill>
                <a:srgbClr val="5C677D"/>
              </a:solidFill>
              <a:latin typeface="Microsoft YaHei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888736" y="2377440"/>
            <a:ext cx="237743" cy="0"/>
          </a:xfrm>
          <a:prstGeom prst="line">
            <a:avLst/>
          </a:prstGeom>
          <a:ln w="139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172200" y="1847088"/>
            <a:ext cx="1572768" cy="10607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336792" y="2020824"/>
            <a:ext cx="384048" cy="384048"/>
          </a:xfrm>
          <a:prstGeom prst="ellipse">
            <a:avLst/>
          </a:prstGeom>
          <a:solidFill>
            <a:srgbClr val="69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36792" y="2075688"/>
            <a:ext cx="384048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2029968"/>
            <a:ext cx="795528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40" b="1">
                <a:solidFill>
                  <a:srgbClr val="141A2E"/>
                </a:solidFill>
                <a:latin typeface="Microsoft YaHei"/>
              </a:rPr>
              <a:t>任务规划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21423" y="2281289"/>
            <a:ext cx="777239" cy="466343"/>
          </a:xfrm>
          <a:prstGeom prst="rect">
            <a:avLst/>
          </a:prstGeom>
          <a:noFill/>
        </p:spPr>
        <p:txBody>
          <a:bodyPr wrap="square" lIns="36576" tIns="36576" r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dirty="0">
                <a:solidFill>
                  <a:srgbClr val="5C677D"/>
                </a:solidFill>
                <a:latin typeface="Microsoft YaHei"/>
              </a:rPr>
              <a:t>Agent </a:t>
            </a:r>
            <a:r>
              <a:rPr sz="1100" b="0" dirty="0" err="1">
                <a:solidFill>
                  <a:srgbClr val="5C677D"/>
                </a:solidFill>
                <a:latin typeface="Microsoft YaHei"/>
              </a:rPr>
              <a:t>输出动作与安全约束</a:t>
            </a:r>
            <a:endParaRPr sz="1100" b="0" dirty="0">
              <a:solidFill>
                <a:srgbClr val="5C677D"/>
              </a:solidFill>
              <a:latin typeface="Microsoft YaHei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7744968" y="2377440"/>
            <a:ext cx="237744" cy="0"/>
          </a:xfrm>
          <a:prstGeom prst="line">
            <a:avLst/>
          </a:prstGeom>
          <a:ln w="139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028431" y="1847088"/>
            <a:ext cx="1572768" cy="10607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193023" y="2020824"/>
            <a:ext cx="384048" cy="384048"/>
          </a:xfrm>
          <a:prstGeom prst="ellipse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93023" y="2075688"/>
            <a:ext cx="384048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68511" y="2029968"/>
            <a:ext cx="795528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40" b="1">
                <a:solidFill>
                  <a:srgbClr val="141A2E"/>
                </a:solidFill>
                <a:latin typeface="Microsoft YaHei"/>
              </a:rPr>
              <a:t>动作执行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34220" y="2263141"/>
            <a:ext cx="921261" cy="466343"/>
          </a:xfrm>
          <a:prstGeom prst="rect">
            <a:avLst/>
          </a:prstGeom>
          <a:noFill/>
        </p:spPr>
        <p:txBody>
          <a:bodyPr wrap="square" lIns="36576" tIns="36576" r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dirty="0">
                <a:solidFill>
                  <a:srgbClr val="5C677D"/>
                </a:solidFill>
                <a:latin typeface="Microsoft YaHei"/>
              </a:rPr>
              <a:t>RA6M5 </a:t>
            </a:r>
            <a:r>
              <a:rPr sz="1100" b="0" dirty="0" err="1">
                <a:solidFill>
                  <a:srgbClr val="5C677D"/>
                </a:solidFill>
                <a:latin typeface="Microsoft YaHei"/>
              </a:rPr>
              <a:t>控制机械臂与传感器</a:t>
            </a:r>
            <a:endParaRPr sz="1100" b="0" dirty="0">
              <a:solidFill>
                <a:srgbClr val="5C677D"/>
              </a:solidFill>
              <a:latin typeface="Microsoft YaHei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9601200" y="2377440"/>
            <a:ext cx="237744" cy="0"/>
          </a:xfrm>
          <a:prstGeom prst="line">
            <a:avLst/>
          </a:prstGeom>
          <a:ln w="139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884663" y="1847088"/>
            <a:ext cx="1572768" cy="10607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0049255" y="2020824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049255" y="2075688"/>
            <a:ext cx="384048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24743" y="2029968"/>
            <a:ext cx="795528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40" b="1">
                <a:solidFill>
                  <a:srgbClr val="141A2E"/>
                </a:solidFill>
                <a:latin typeface="Microsoft YaHei"/>
              </a:rPr>
              <a:t>状态反馈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87429" y="2307403"/>
            <a:ext cx="832842" cy="466343"/>
          </a:xfrm>
          <a:prstGeom prst="rect">
            <a:avLst/>
          </a:prstGeom>
          <a:noFill/>
        </p:spPr>
        <p:txBody>
          <a:bodyPr wrap="square" lIns="36576" tIns="36576" r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dirty="0">
                <a:solidFill>
                  <a:srgbClr val="5C677D"/>
                </a:solidFill>
                <a:latin typeface="Microsoft YaHei"/>
              </a:rPr>
              <a:t>Web </a:t>
            </a:r>
            <a:r>
              <a:rPr sz="1100" b="0" dirty="0" err="1">
                <a:solidFill>
                  <a:srgbClr val="5C677D"/>
                </a:solidFill>
                <a:latin typeface="Microsoft YaHei"/>
              </a:rPr>
              <a:t>显示</a:t>
            </a:r>
            <a:r>
              <a:rPr sz="1100" b="0" dirty="0">
                <a:solidFill>
                  <a:srgbClr val="5C677D"/>
                </a:solidFill>
                <a:latin typeface="Microsoft YaHei"/>
              </a:rPr>
              <a:t> / </a:t>
            </a:r>
            <a:r>
              <a:rPr sz="1100" b="0" dirty="0" err="1">
                <a:solidFill>
                  <a:srgbClr val="5C677D"/>
                </a:solidFill>
                <a:latin typeface="Microsoft YaHei"/>
              </a:rPr>
              <a:t>语音</a:t>
            </a:r>
            <a:r>
              <a:rPr sz="1100" b="0" dirty="0">
                <a:solidFill>
                  <a:srgbClr val="5C677D"/>
                </a:solidFill>
                <a:latin typeface="Microsoft YaHei"/>
              </a:rPr>
              <a:t> / </a:t>
            </a:r>
            <a:r>
              <a:rPr sz="1100" b="0" dirty="0" err="1">
                <a:solidFill>
                  <a:srgbClr val="5C677D"/>
                </a:solidFill>
                <a:latin typeface="Microsoft YaHei"/>
              </a:rPr>
              <a:t>灯光</a:t>
            </a:r>
            <a:endParaRPr sz="1100" b="0" dirty="0">
              <a:solidFill>
                <a:srgbClr val="5C677D"/>
              </a:solidFill>
              <a:latin typeface="Microsoft YaHei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02920" y="6510528"/>
            <a:ext cx="10789920" cy="10972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02920" y="6565392"/>
            <a:ext cx="576072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0">
                <a:solidFill>
                  <a:srgbClr val="8A94A6"/>
                </a:solidFill>
                <a:latin typeface="Microsoft YaHei"/>
              </a:rPr>
              <a:t>基于瑞萨 RA6M5 的多模态 AI 机械臂辅学系统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700" b="1">
                <a:solidFill>
                  <a:srgbClr val="8A94A6"/>
                </a:solidFill>
                <a:latin typeface="Microsoft YaHei"/>
              </a:rPr>
              <a:t>06</a:t>
            </a:r>
          </a:p>
        </p:txBody>
      </p:sp>
      <p:sp>
        <p:nvSpPr>
          <p:cNvPr id="1031" name="Rounded Rectangle 11">
            <a:extLst>
              <a:ext uri="{FF2B5EF4-FFF2-40B4-BE49-F238E27FC236}">
                <a16:creationId xmlns:a16="http://schemas.microsoft.com/office/drawing/2014/main" id="{3BAA0D80-96B8-B402-F77B-F16A940B11A8}"/>
              </a:ext>
            </a:extLst>
          </p:cNvPr>
          <p:cNvSpPr/>
          <p:nvPr/>
        </p:nvSpPr>
        <p:spPr>
          <a:xfrm>
            <a:off x="556576" y="3099678"/>
            <a:ext cx="1949958" cy="3328623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2" name="Rounded Rectangle 11">
            <a:extLst>
              <a:ext uri="{FF2B5EF4-FFF2-40B4-BE49-F238E27FC236}">
                <a16:creationId xmlns:a16="http://schemas.microsoft.com/office/drawing/2014/main" id="{5A4C446D-DEF0-4DE1-7E03-36FEA81316E7}"/>
              </a:ext>
            </a:extLst>
          </p:cNvPr>
          <p:cNvSpPr/>
          <p:nvPr/>
        </p:nvSpPr>
        <p:spPr>
          <a:xfrm>
            <a:off x="9506988" y="3061388"/>
            <a:ext cx="2066918" cy="32463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34" name="图片 1033">
            <a:extLst>
              <a:ext uri="{FF2B5EF4-FFF2-40B4-BE49-F238E27FC236}">
                <a16:creationId xmlns:a16="http://schemas.microsoft.com/office/drawing/2014/main" id="{97A6CA00-5658-946F-9766-B7C29E3A5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376" y="3081528"/>
            <a:ext cx="5930257" cy="3262787"/>
          </a:xfrm>
          <a:prstGeom prst="rect">
            <a:avLst/>
          </a:prstGeom>
        </p:spPr>
      </p:pic>
      <p:sp>
        <p:nvSpPr>
          <p:cNvPr id="1035" name="文本框 1034">
            <a:extLst>
              <a:ext uri="{FF2B5EF4-FFF2-40B4-BE49-F238E27FC236}">
                <a16:creationId xmlns:a16="http://schemas.microsoft.com/office/drawing/2014/main" id="{E96A8FBA-57A8-1D95-5EA3-C49671C8D185}"/>
              </a:ext>
            </a:extLst>
          </p:cNvPr>
          <p:cNvSpPr txBox="1"/>
          <p:nvPr/>
        </p:nvSpPr>
        <p:spPr>
          <a:xfrm>
            <a:off x="573301" y="3270135"/>
            <a:ext cx="194995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100" dirty="0">
                <a:latin typeface="+mn-ea"/>
              </a:rPr>
              <a:t>例如在家庭作业场景中，学生把题目放到桌面上，机械臂可以调整到预设拍照位姿，对题目拍照并上传给大模型，再用语音讲解思路；学生说</a:t>
            </a:r>
            <a:r>
              <a:rPr lang="en-US" altLang="zh-CN" sz="1100" dirty="0">
                <a:latin typeface="+mn-ea"/>
              </a:rPr>
              <a:t>“</a:t>
            </a:r>
            <a:r>
              <a:rPr lang="zh-CN" altLang="zh-CN" sz="1100" dirty="0">
                <a:latin typeface="+mn-ea"/>
              </a:rPr>
              <a:t>灯太暗了</a:t>
            </a:r>
            <a:r>
              <a:rPr lang="en-US" altLang="zh-CN" sz="1100" dirty="0">
                <a:latin typeface="+mn-ea"/>
              </a:rPr>
              <a:t>”</a:t>
            </a:r>
            <a:r>
              <a:rPr lang="zh-CN" altLang="zh-CN" sz="1100" dirty="0">
                <a:latin typeface="+mn-ea"/>
              </a:rPr>
              <a:t>或</a:t>
            </a:r>
            <a:r>
              <a:rPr lang="en-US" altLang="zh-CN" sz="1100" dirty="0">
                <a:latin typeface="+mn-ea"/>
              </a:rPr>
              <a:t>“</a:t>
            </a:r>
            <a:r>
              <a:rPr lang="zh-CN" altLang="zh-CN" sz="1100" dirty="0">
                <a:latin typeface="+mn-ea"/>
              </a:rPr>
              <a:t>换成暖一点的光</a:t>
            </a:r>
            <a:r>
              <a:rPr lang="en-US" altLang="zh-CN" sz="1100" dirty="0">
                <a:latin typeface="+mn-ea"/>
              </a:rPr>
              <a:t>”</a:t>
            </a:r>
            <a:r>
              <a:rPr lang="zh-CN" altLang="zh-CN" sz="1100" dirty="0">
                <a:latin typeface="+mn-ea"/>
              </a:rPr>
              <a:t>，机械臂上的灯光模块可以调节颜色和亮度；学生学习过程中需要笔、水杯或小零食，机械臂可以从预设位置拿取并递到桌面附近；进行垃圾分类学习时，系统通过机械臂夹取真实小件垃圾并投放到对应区域，让儿童在实体动作中理解分类规则。</a:t>
            </a:r>
            <a:endParaRPr lang="zh-CN" altLang="en-US" sz="1100" dirty="0">
              <a:latin typeface="+mn-ea"/>
            </a:endParaRPr>
          </a:p>
        </p:txBody>
      </p:sp>
      <p:sp>
        <p:nvSpPr>
          <p:cNvPr id="1036" name="文本框 1035">
            <a:extLst>
              <a:ext uri="{FF2B5EF4-FFF2-40B4-BE49-F238E27FC236}">
                <a16:creationId xmlns:a16="http://schemas.microsoft.com/office/drawing/2014/main" id="{019C1473-FE1D-7278-7A59-CF9683461BB3}"/>
              </a:ext>
            </a:extLst>
          </p:cNvPr>
          <p:cNvSpPr txBox="1"/>
          <p:nvPr/>
        </p:nvSpPr>
        <p:spPr>
          <a:xfrm>
            <a:off x="9601200" y="3276666"/>
            <a:ext cx="1856231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100" dirty="0">
                <a:latin typeface="+mn-ea"/>
              </a:rPr>
              <a:t>机械臂还可以提供一定的情绪反馈：学生答对题时点头鼓励，学生说</a:t>
            </a:r>
            <a:r>
              <a:rPr lang="en-US" altLang="zh-CN" sz="1100" dirty="0">
                <a:latin typeface="+mn-ea"/>
              </a:rPr>
              <a:t>“</a:t>
            </a:r>
            <a:r>
              <a:rPr lang="zh-CN" altLang="zh-CN" sz="1100" dirty="0">
                <a:latin typeface="+mn-ea"/>
              </a:rPr>
              <a:t>我有点难过</a:t>
            </a:r>
            <a:r>
              <a:rPr lang="en-US" altLang="zh-CN" sz="1100" dirty="0">
                <a:latin typeface="+mn-ea"/>
              </a:rPr>
              <a:t>”</a:t>
            </a:r>
            <a:r>
              <a:rPr lang="zh-CN" altLang="zh-CN" sz="1100" dirty="0">
                <a:latin typeface="+mn-ea"/>
              </a:rPr>
              <a:t>时做简单舞蹈动作活跃气氛，学生问</a:t>
            </a:r>
            <a:r>
              <a:rPr lang="en-US" altLang="zh-CN" sz="1100" dirty="0">
                <a:latin typeface="+mn-ea"/>
              </a:rPr>
              <a:t>“</a:t>
            </a:r>
            <a:r>
              <a:rPr lang="zh-CN" altLang="zh-CN" sz="1100" dirty="0">
                <a:latin typeface="+mn-ea"/>
              </a:rPr>
              <a:t>今天天气怎么样</a:t>
            </a:r>
            <a:r>
              <a:rPr lang="en-US" altLang="zh-CN" sz="1100" dirty="0">
                <a:latin typeface="+mn-ea"/>
              </a:rPr>
              <a:t>”</a:t>
            </a:r>
            <a:r>
              <a:rPr lang="zh-CN" altLang="zh-CN" sz="1100" dirty="0">
                <a:latin typeface="+mn-ea"/>
              </a:rPr>
              <a:t>时先抬头做出回应姿态，再语音播报天气。这些动作不一定复杂，但能让儿童感觉到</a:t>
            </a:r>
            <a:r>
              <a:rPr lang="en-US" altLang="zh-CN" sz="1100" dirty="0">
                <a:latin typeface="+mn-ea"/>
              </a:rPr>
              <a:t> AI </a:t>
            </a:r>
            <a:r>
              <a:rPr lang="zh-CN" altLang="zh-CN" sz="1100" dirty="0">
                <a:latin typeface="+mn-ea"/>
              </a:rPr>
              <a:t>不只是屏幕里的声音，而是一个会观察、会回应、能帮忙完成小任务的学习伙伴。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11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5029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424160" y="-1051560"/>
            <a:ext cx="3108960" cy="3108960"/>
          </a:xfrm>
          <a:prstGeom prst="ellipse">
            <a:avLst/>
          </a:prstGeom>
          <a:noFill/>
          <a:ln w="12700">
            <a:solidFill>
              <a:srgbClr val="E1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0" y="-502920"/>
            <a:ext cx="2011680" cy="2011680"/>
          </a:xfrm>
          <a:prstGeom prst="ellipse">
            <a:avLst/>
          </a:prstGeom>
          <a:noFill/>
          <a:ln w="12700">
            <a:solidFill>
              <a:srgbClr val="EC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52560"/>
            <a:ext cx="4309225" cy="559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dirty="0">
                <a:solidFill>
                  <a:srgbClr val="1F6FEB"/>
                </a:solidFill>
                <a:latin typeface="Microsoft YaHei"/>
              </a:rPr>
              <a:t>03｜</a:t>
            </a:r>
            <a:r>
              <a:rPr sz="3200" b="1" dirty="0">
                <a:solidFill>
                  <a:srgbClr val="1F6F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</a:t>
            </a:r>
            <a:r>
              <a:rPr lang="zh-CN" altLang="en-US" sz="3200" b="1" dirty="0">
                <a:solidFill>
                  <a:srgbClr val="1F6F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（算法）</a:t>
            </a:r>
            <a:endParaRPr sz="3200" b="1" dirty="0">
              <a:solidFill>
                <a:srgbClr val="1F6F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24298"/>
            <a:ext cx="7955279" cy="37728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dirty="0" err="1">
                <a:solidFill>
                  <a:srgbClr val="141A2E"/>
                </a:solidFill>
                <a:latin typeface="Microsoft YaHei"/>
              </a:rPr>
              <a:t>算法模块｜更轻、更稳、更适合桌面小目标识别</a:t>
            </a:r>
            <a:endParaRPr sz="2000" b="1" dirty="0">
              <a:solidFill>
                <a:srgbClr val="141A2E"/>
              </a:solidFill>
              <a:latin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" y="1033271"/>
            <a:ext cx="978408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C677D"/>
                </a:solidFill>
                <a:latin typeface="Microsoft YaHei"/>
              </a:rPr>
              <a:t>在 YOLO11 基础上引入注意力机制和特征融合，并与 OCR、机械臂定位链路衔接。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310896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1F6FEB"/>
                </a:solidFill>
                <a:latin typeface="Microsoft YaHei"/>
              </a:rPr>
              <a:t>07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10881360" cy="16459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737360"/>
            <a:ext cx="3401568" cy="19202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365" y="1828800"/>
            <a:ext cx="2881572" cy="17373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58368" y="3419856"/>
            <a:ext cx="3401568" cy="237744"/>
          </a:xfrm>
          <a:prstGeom prst="rect">
            <a:avLst/>
          </a:prstGeom>
          <a:solidFill>
            <a:srgbClr val="111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" y="3438144"/>
            <a:ext cx="3182112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720" b="1">
                <a:solidFill>
                  <a:srgbClr val="FFFFFF"/>
                </a:solidFill>
                <a:latin typeface="Microsoft YaHei"/>
              </a:rPr>
              <a:t>YOLO 视觉检测链路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840480"/>
            <a:ext cx="3401568" cy="14173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058572"/>
            <a:ext cx="3218688" cy="98113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58368" y="5020056"/>
            <a:ext cx="3401568" cy="237744"/>
          </a:xfrm>
          <a:prstGeom prst="rect">
            <a:avLst/>
          </a:prstGeom>
          <a:solidFill>
            <a:srgbClr val="111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6" y="5038344"/>
            <a:ext cx="3182112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720" b="1" dirty="0">
                <a:solidFill>
                  <a:srgbClr val="FFFFFF"/>
                </a:solidFill>
                <a:latin typeface="Microsoft YaHei"/>
              </a:rPr>
              <a:t>CBAM </a:t>
            </a:r>
            <a:r>
              <a:rPr sz="720" b="1" dirty="0" err="1">
                <a:solidFill>
                  <a:srgbClr val="FFFFFF"/>
                </a:solidFill>
                <a:latin typeface="Microsoft YaHei"/>
              </a:rPr>
              <a:t>注意力机制</a:t>
            </a:r>
            <a:endParaRPr sz="72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370832" y="1755648"/>
            <a:ext cx="3127248" cy="3547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17720" y="1965960"/>
            <a:ext cx="128016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41A2E"/>
                </a:solidFill>
                <a:latin typeface="Microsoft YaHei"/>
              </a:rPr>
              <a:t>改进思路</a:t>
            </a:r>
          </a:p>
        </p:txBody>
      </p:sp>
      <p:sp>
        <p:nvSpPr>
          <p:cNvPr id="22" name="Oval 21"/>
          <p:cNvSpPr/>
          <p:nvPr/>
        </p:nvSpPr>
        <p:spPr>
          <a:xfrm>
            <a:off x="4626864" y="2404872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26864" y="2450591"/>
            <a:ext cx="256032" cy="731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2386584"/>
            <a:ext cx="1518920" cy="22095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1" dirty="0">
                <a:solidFill>
                  <a:srgbClr val="141A2E"/>
                </a:solidFill>
                <a:latin typeface="Microsoft YaHei"/>
              </a:rPr>
              <a:t>CBAM </a:t>
            </a:r>
            <a:r>
              <a:rPr sz="980" b="1" dirty="0" err="1">
                <a:solidFill>
                  <a:srgbClr val="141A2E"/>
                </a:solidFill>
                <a:latin typeface="Microsoft YaHei"/>
              </a:rPr>
              <a:t>注意力</a:t>
            </a:r>
            <a:r>
              <a:rPr lang="en-US" sz="980" b="1" dirty="0">
                <a:solidFill>
                  <a:srgbClr val="141A2E"/>
                </a:solidFill>
                <a:latin typeface="Microsoft YaHei"/>
              </a:rPr>
              <a:t>+</a:t>
            </a:r>
            <a:r>
              <a:rPr lang="zh-CN" altLang="en-US" sz="980" b="1" dirty="0">
                <a:solidFill>
                  <a:srgbClr val="141A2E"/>
                </a:solidFill>
                <a:latin typeface="Microsoft YaHei"/>
              </a:rPr>
              <a:t>残差块</a:t>
            </a:r>
            <a:endParaRPr sz="980" b="1" dirty="0">
              <a:solidFill>
                <a:srgbClr val="141A2E"/>
              </a:solidFill>
              <a:latin typeface="Microsoft YaHe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83480" y="2587752"/>
            <a:ext cx="219456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>
              <a:lnSpc>
                <a:spcPct val="105000"/>
              </a:lnSpc>
            </a:pPr>
            <a:r>
              <a:rPr sz="760" b="0" dirty="0" err="1">
                <a:solidFill>
                  <a:srgbClr val="5C677D"/>
                </a:solidFill>
                <a:latin typeface="Microsoft YaHei"/>
              </a:rPr>
              <a:t>增强有效区域特征，抑制桌面背景干扰</a:t>
            </a:r>
            <a:r>
              <a:rPr sz="760" b="0" dirty="0">
                <a:solidFill>
                  <a:srgbClr val="5C677D"/>
                </a:solidFill>
                <a:latin typeface="Microsoft YaHei"/>
              </a:rPr>
              <a:t>。</a:t>
            </a:r>
          </a:p>
        </p:txBody>
      </p:sp>
      <p:sp>
        <p:nvSpPr>
          <p:cNvPr id="26" name="Oval 25"/>
          <p:cNvSpPr/>
          <p:nvPr/>
        </p:nvSpPr>
        <p:spPr>
          <a:xfrm>
            <a:off x="4626864" y="3063239"/>
            <a:ext cx="256032" cy="256032"/>
          </a:xfrm>
          <a:prstGeom prst="ellipse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26864" y="3108959"/>
            <a:ext cx="256032" cy="731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3044951"/>
            <a:ext cx="1207008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1">
                <a:solidFill>
                  <a:srgbClr val="141A2E"/>
                </a:solidFill>
                <a:latin typeface="Microsoft YaHei"/>
              </a:rPr>
              <a:t>特征金字塔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3246120"/>
            <a:ext cx="219456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>
              <a:lnSpc>
                <a:spcPct val="105000"/>
              </a:lnSpc>
            </a:pPr>
            <a:r>
              <a:rPr sz="760" b="0">
                <a:solidFill>
                  <a:srgbClr val="5C677D"/>
                </a:solidFill>
                <a:latin typeface="Microsoft YaHei"/>
              </a:rPr>
              <a:t>提升小目标与文字区域检测稳定性。</a:t>
            </a:r>
          </a:p>
        </p:txBody>
      </p:sp>
      <p:sp>
        <p:nvSpPr>
          <p:cNvPr id="30" name="Oval 29"/>
          <p:cNvSpPr/>
          <p:nvPr/>
        </p:nvSpPr>
        <p:spPr>
          <a:xfrm>
            <a:off x="4626864" y="3721608"/>
            <a:ext cx="256032" cy="256032"/>
          </a:xfrm>
          <a:prstGeom prst="ellipse">
            <a:avLst/>
          </a:prstGeom>
          <a:solidFill>
            <a:srgbClr val="69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26864" y="3767328"/>
            <a:ext cx="256032" cy="731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3703320"/>
            <a:ext cx="1207008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1">
                <a:solidFill>
                  <a:srgbClr val="141A2E"/>
                </a:solidFill>
                <a:latin typeface="Microsoft YaHei"/>
              </a:rPr>
              <a:t>YOLO + OCR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80" y="3904488"/>
            <a:ext cx="219456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/>
          </a:bodyPr>
          <a:lstStyle/>
          <a:p>
            <a:pPr algn="l">
              <a:lnSpc>
                <a:spcPct val="105000"/>
              </a:lnSpc>
            </a:pPr>
            <a:r>
              <a:rPr sz="760" b="0">
                <a:solidFill>
                  <a:srgbClr val="5C677D"/>
                </a:solidFill>
                <a:latin typeface="Microsoft YaHei"/>
              </a:rPr>
              <a:t>先定位文字区域，再进行识别，降低整页 OCR 噪声。</a:t>
            </a:r>
          </a:p>
        </p:txBody>
      </p:sp>
      <p:sp>
        <p:nvSpPr>
          <p:cNvPr id="34" name="Oval 33"/>
          <p:cNvSpPr/>
          <p:nvPr/>
        </p:nvSpPr>
        <p:spPr>
          <a:xfrm>
            <a:off x="4626864" y="4379976"/>
            <a:ext cx="256032" cy="256032"/>
          </a:xfrm>
          <a:prstGeom prst="ellipse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26864" y="4425696"/>
            <a:ext cx="256032" cy="731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4361688"/>
            <a:ext cx="1207008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1">
                <a:solidFill>
                  <a:srgbClr val="141A2E"/>
                </a:solidFill>
                <a:latin typeface="Microsoft YaHei"/>
              </a:rPr>
              <a:t>运动学约束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4562856"/>
            <a:ext cx="219456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>
              <a:lnSpc>
                <a:spcPct val="105000"/>
              </a:lnSpc>
            </a:pPr>
            <a:r>
              <a:rPr sz="760" b="0">
                <a:solidFill>
                  <a:srgbClr val="5C677D"/>
                </a:solidFill>
                <a:latin typeface="Microsoft YaHei"/>
              </a:rPr>
              <a:t>把视觉坐标转换为可执行的机械臂位姿。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09560" y="1755648"/>
            <a:ext cx="1508760" cy="12252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909560" y="1755648"/>
            <a:ext cx="1508760" cy="640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19288" y="1938528"/>
            <a:ext cx="1289304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1F6FEB"/>
                </a:solidFill>
                <a:latin typeface="Microsoft YaHei"/>
              </a:rPr>
              <a:t>-12%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37576" y="2414015"/>
            <a:ext cx="1252728" cy="292608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141A2E"/>
                </a:solidFill>
                <a:latin typeface="Microsoft YaHei"/>
              </a:rPr>
              <a:t>模型参数量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74152" y="2706624"/>
            <a:ext cx="1179576" cy="274320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>
              <a:lnSpc>
                <a:spcPct val="105000"/>
              </a:lnSpc>
            </a:pPr>
            <a:r>
              <a:rPr sz="750" b="0">
                <a:solidFill>
                  <a:srgbClr val="5C677D"/>
                </a:solidFill>
                <a:latin typeface="Microsoft YaHei"/>
              </a:rPr>
              <a:t>轻量化便于后续端侧部署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01200" y="1755648"/>
            <a:ext cx="1508760" cy="12252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601200" y="1755648"/>
            <a:ext cx="1508760" cy="64008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710928" y="1938528"/>
            <a:ext cx="1289304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20C997"/>
                </a:solidFill>
                <a:latin typeface="Microsoft YaHei"/>
              </a:rPr>
              <a:t>+3%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29216" y="2414015"/>
            <a:ext cx="1252728" cy="292608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141A2E"/>
                </a:solidFill>
                <a:latin typeface="Microsoft YaHei"/>
              </a:rPr>
              <a:t>目标准确率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65792" y="2706624"/>
            <a:ext cx="1179576" cy="274320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>
              <a:lnSpc>
                <a:spcPct val="105000"/>
              </a:lnSpc>
            </a:pPr>
            <a:r>
              <a:rPr sz="750" b="0">
                <a:solidFill>
                  <a:srgbClr val="5C677D"/>
                </a:solidFill>
                <a:latin typeface="Microsoft YaHei"/>
              </a:rPr>
              <a:t>小目标识别能力提升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909560" y="3218688"/>
            <a:ext cx="1508760" cy="12252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909560" y="3218688"/>
            <a:ext cx="1508760" cy="64008"/>
          </a:xfrm>
          <a:prstGeom prst="rect">
            <a:avLst/>
          </a:prstGeom>
          <a:solidFill>
            <a:srgbClr val="69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019288" y="3401568"/>
            <a:ext cx="1289304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695CFF"/>
                </a:solidFill>
                <a:latin typeface="Microsoft YaHei"/>
              </a:rPr>
              <a:t>92.4%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37576" y="3877056"/>
            <a:ext cx="1252728" cy="292608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>
              <a:lnSpc>
                <a:spcPct val="105000"/>
              </a:lnSpc>
            </a:pPr>
            <a:r>
              <a:rPr sz="919" b="1" dirty="0" err="1">
                <a:solidFill>
                  <a:srgbClr val="141A2E"/>
                </a:solidFill>
                <a:latin typeface="Microsoft YaHei"/>
              </a:rPr>
              <a:t>前期</a:t>
            </a:r>
            <a:r>
              <a:rPr sz="919" b="1" dirty="0">
                <a:solidFill>
                  <a:srgbClr val="141A2E"/>
                </a:solidFill>
                <a:latin typeface="Microsoft YaHei"/>
              </a:rPr>
              <a:t> mAP@0.5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74152" y="4169664"/>
            <a:ext cx="1179576" cy="274320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>
              <a:lnSpc>
                <a:spcPct val="105000"/>
              </a:lnSpc>
            </a:pPr>
            <a:r>
              <a:rPr sz="750" b="0" dirty="0" err="1">
                <a:solidFill>
                  <a:srgbClr val="5C677D"/>
                </a:solidFill>
                <a:latin typeface="Microsoft YaHei"/>
              </a:rPr>
              <a:t>团队算法训练</a:t>
            </a:r>
            <a:endParaRPr sz="750" b="0" dirty="0">
              <a:solidFill>
                <a:srgbClr val="5C677D"/>
              </a:solidFill>
              <a:latin typeface="Microsoft YaHei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9601200" y="3218688"/>
            <a:ext cx="1508760" cy="12252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9601200" y="3218688"/>
            <a:ext cx="1508760" cy="64008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710928" y="3401568"/>
            <a:ext cx="1289304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FFB74D"/>
                </a:solidFill>
                <a:latin typeface="Microsoft YaHei"/>
              </a:rPr>
              <a:t>OCR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29216" y="3877056"/>
            <a:ext cx="1252728" cy="292608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141A2E"/>
                </a:solidFill>
                <a:latin typeface="Microsoft YaHei"/>
              </a:rPr>
              <a:t>文字识别链路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65792" y="4169664"/>
            <a:ext cx="1179576" cy="274320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>
              <a:lnSpc>
                <a:spcPct val="105000"/>
              </a:lnSpc>
            </a:pPr>
            <a:r>
              <a:rPr sz="750" b="0" dirty="0" err="1">
                <a:solidFill>
                  <a:srgbClr val="5C677D"/>
                </a:solidFill>
                <a:latin typeface="Microsoft YaHei"/>
              </a:rPr>
              <a:t>增强题目区域读取稳定性</a:t>
            </a:r>
            <a:endParaRPr sz="750" b="0" dirty="0">
              <a:solidFill>
                <a:srgbClr val="5C677D"/>
              </a:solidFill>
              <a:latin typeface="Microsoft YaHei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02920" y="6510528"/>
            <a:ext cx="10789920" cy="10972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02920" y="6565392"/>
            <a:ext cx="576072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0">
                <a:solidFill>
                  <a:srgbClr val="8A94A6"/>
                </a:solidFill>
                <a:latin typeface="Microsoft YaHei"/>
              </a:rPr>
              <a:t>基于瑞萨 RA6M5 的多模态 AI 机械臂辅学系统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700" b="1">
                <a:solidFill>
                  <a:srgbClr val="8A94A6"/>
                </a:solidFill>
                <a:latin typeface="Microsoft YaHei"/>
              </a:rPr>
              <a:t>07</a:t>
            </a: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8696EBF9-1C98-E326-D3D7-908714B983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3235" y="1711756"/>
            <a:ext cx="3820669" cy="3174795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09FF1DC6-97C9-37CB-C63F-077913C95A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2119" y="4930443"/>
            <a:ext cx="2018162" cy="1454954"/>
          </a:xfrm>
          <a:prstGeom prst="rect">
            <a:avLst/>
          </a:prstGeom>
        </p:spPr>
      </p:pic>
      <p:sp>
        <p:nvSpPr>
          <p:cNvPr id="69" name="Rounded Rectangle 19">
            <a:extLst>
              <a:ext uri="{FF2B5EF4-FFF2-40B4-BE49-F238E27FC236}">
                <a16:creationId xmlns:a16="http://schemas.microsoft.com/office/drawing/2014/main" id="{5BAE25D8-4D2E-E0B8-2B84-C7044CF6A4B0}"/>
              </a:ext>
            </a:extLst>
          </p:cNvPr>
          <p:cNvSpPr/>
          <p:nvPr/>
        </p:nvSpPr>
        <p:spPr>
          <a:xfrm>
            <a:off x="5897880" y="5426917"/>
            <a:ext cx="1908049" cy="100039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文字区域检测数据集构建</a:t>
            </a:r>
            <a:endParaRPr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D00C812E-B043-347F-7709-E9CCD216227B}"/>
              </a:ext>
            </a:extLst>
          </p:cNvPr>
          <p:cNvCxnSpPr>
            <a:cxnSpLocks/>
            <a:stCxn id="69" idx="3"/>
          </p:cNvCxnSpPr>
          <p:nvPr/>
        </p:nvCxnSpPr>
        <p:spPr>
          <a:xfrm>
            <a:off x="7805929" y="5927116"/>
            <a:ext cx="7424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7" name="图片 76">
            <a:extLst>
              <a:ext uri="{FF2B5EF4-FFF2-40B4-BE49-F238E27FC236}">
                <a16:creationId xmlns:a16="http://schemas.microsoft.com/office/drawing/2014/main" id="{A0F5221E-2D03-D001-F158-C4F0D65ECC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249" y="5365904"/>
            <a:ext cx="3781226" cy="952059"/>
          </a:xfrm>
          <a:prstGeom prst="rect">
            <a:avLst/>
          </a:prstGeom>
        </p:spPr>
      </p:pic>
      <p:sp>
        <p:nvSpPr>
          <p:cNvPr id="78" name="Rectangle 17">
            <a:extLst>
              <a:ext uri="{FF2B5EF4-FFF2-40B4-BE49-F238E27FC236}">
                <a16:creationId xmlns:a16="http://schemas.microsoft.com/office/drawing/2014/main" id="{EAE82015-00B3-1350-B67E-6565577452FE}"/>
              </a:ext>
            </a:extLst>
          </p:cNvPr>
          <p:cNvSpPr/>
          <p:nvPr/>
        </p:nvSpPr>
        <p:spPr>
          <a:xfrm>
            <a:off x="658367" y="6308443"/>
            <a:ext cx="3401568" cy="237744"/>
          </a:xfrm>
          <a:prstGeom prst="rect">
            <a:avLst/>
          </a:prstGeom>
          <a:solidFill>
            <a:srgbClr val="111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CBAM+</a:t>
            </a:r>
            <a:r>
              <a:rPr lang="zh-CN" altLang="en-US" sz="7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残差块</a:t>
            </a:r>
            <a:endParaRPr sz="7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11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5029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424160" y="-1051560"/>
            <a:ext cx="3108960" cy="3108960"/>
          </a:xfrm>
          <a:prstGeom prst="ellipse">
            <a:avLst/>
          </a:prstGeom>
          <a:noFill/>
          <a:ln w="12700">
            <a:solidFill>
              <a:srgbClr val="E1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0" y="-502920"/>
            <a:ext cx="2011680" cy="2011680"/>
          </a:xfrm>
          <a:prstGeom prst="ellipse">
            <a:avLst/>
          </a:prstGeom>
          <a:noFill/>
          <a:ln w="12700">
            <a:solidFill>
              <a:srgbClr val="EC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89137"/>
            <a:ext cx="4379976" cy="559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dirty="0">
                <a:solidFill>
                  <a:srgbClr val="1F6F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03｜关键技术</a:t>
            </a:r>
            <a:r>
              <a:rPr lang="zh-CN" altLang="en-US" sz="3200" b="1" dirty="0">
                <a:solidFill>
                  <a:srgbClr val="1F6F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（算法）</a:t>
            </a:r>
            <a:endParaRPr sz="3200" b="1" dirty="0">
              <a:solidFill>
                <a:srgbClr val="1F6F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0352" y="633551"/>
            <a:ext cx="7955279" cy="37728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dirty="0" err="1">
                <a:solidFill>
                  <a:srgbClr val="141A2E"/>
                </a:solidFill>
                <a:latin typeface="Microsoft YaHei"/>
              </a:rPr>
              <a:t>识别定位｜把图像坐标转换为机械臂可执行坐标</a:t>
            </a:r>
            <a:endParaRPr sz="2000" b="1" dirty="0">
              <a:solidFill>
                <a:srgbClr val="141A2E"/>
              </a:solidFill>
              <a:latin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" y="1033271"/>
            <a:ext cx="978408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C677D"/>
                </a:solidFill>
                <a:latin typeface="Microsoft YaHei"/>
              </a:rPr>
              <a:t>标定、深度信息与逆运动学共同决定机械臂是否能“看准并动准”。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310896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1F6FEB"/>
                </a:solidFill>
                <a:latin typeface="Microsoft YaHei"/>
              </a:rPr>
              <a:t>08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10881360" cy="16459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737360"/>
            <a:ext cx="2240280" cy="14630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5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604" y="1828800"/>
            <a:ext cx="1657807" cy="12801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58368" y="2962656"/>
            <a:ext cx="2240280" cy="237744"/>
          </a:xfrm>
          <a:prstGeom prst="rect">
            <a:avLst/>
          </a:prstGeom>
          <a:solidFill>
            <a:srgbClr val="111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" y="2980944"/>
            <a:ext cx="2020824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720" b="1">
                <a:solidFill>
                  <a:srgbClr val="FFFFFF"/>
                </a:solidFill>
                <a:latin typeface="Microsoft YaHei"/>
              </a:rPr>
              <a:t>棋盘格标定板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39" y="1737360"/>
            <a:ext cx="2240280" cy="14630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362" y="1828800"/>
            <a:ext cx="1711234" cy="128016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291839" y="2962656"/>
            <a:ext cx="2240280" cy="237744"/>
          </a:xfrm>
          <a:prstGeom prst="rect">
            <a:avLst/>
          </a:prstGeom>
          <a:solidFill>
            <a:srgbClr val="111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01568" y="2980944"/>
            <a:ext cx="2020824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720" b="1">
                <a:solidFill>
                  <a:srgbClr val="FFFFFF"/>
                </a:solidFill>
                <a:latin typeface="Microsoft YaHei"/>
              </a:rPr>
              <a:t>角点检测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25312" y="1737360"/>
            <a:ext cx="2240280" cy="14630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224" y="1828800"/>
            <a:ext cx="1986455" cy="128016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5925312" y="2962656"/>
            <a:ext cx="2240280" cy="237744"/>
          </a:xfrm>
          <a:prstGeom prst="rect">
            <a:avLst/>
          </a:prstGeom>
          <a:solidFill>
            <a:srgbClr val="111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35040" y="2980944"/>
            <a:ext cx="2020824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720" b="1">
                <a:solidFill>
                  <a:srgbClr val="FFFFFF"/>
                </a:solidFill>
                <a:latin typeface="Microsoft YaHei"/>
              </a:rPr>
              <a:t>坐标系变换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58784" y="1737360"/>
            <a:ext cx="2240280" cy="14630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4386" y="1828800"/>
            <a:ext cx="1309075" cy="128016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558784" y="2962656"/>
            <a:ext cx="2240280" cy="237744"/>
          </a:xfrm>
          <a:prstGeom prst="rect">
            <a:avLst/>
          </a:prstGeom>
          <a:solidFill>
            <a:srgbClr val="111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68512" y="2980944"/>
            <a:ext cx="2020824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720" b="1">
                <a:solidFill>
                  <a:srgbClr val="FFFFFF"/>
                </a:solidFill>
                <a:latin typeface="Microsoft YaHei"/>
              </a:rPr>
              <a:t>机械臂 D-H 建模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" y="3730752"/>
            <a:ext cx="2057400" cy="10789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50976" y="390448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0976" y="3959352"/>
            <a:ext cx="384048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26464" y="3913632"/>
            <a:ext cx="128016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40" b="1">
                <a:solidFill>
                  <a:srgbClr val="141A2E"/>
                </a:solidFill>
                <a:latin typeface="Microsoft YaHei"/>
              </a:rPr>
              <a:t>相机内参标定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26464" y="4206240"/>
            <a:ext cx="1234440" cy="484631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>
              <a:lnSpc>
                <a:spcPct val="105000"/>
              </a:lnSpc>
            </a:pPr>
            <a:r>
              <a:rPr sz="810" b="0" dirty="0" err="1">
                <a:solidFill>
                  <a:srgbClr val="5C677D"/>
                </a:solidFill>
                <a:latin typeface="Microsoft YaHei"/>
              </a:rPr>
              <a:t>求解焦距、主点、畸变参数</a:t>
            </a:r>
            <a:endParaRPr sz="810" b="0" dirty="0">
              <a:solidFill>
                <a:srgbClr val="5C677D"/>
              </a:solidFill>
              <a:latin typeface="Microsoft YaHei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2825496" y="4279392"/>
            <a:ext cx="320040" cy="0"/>
          </a:xfrm>
          <a:prstGeom prst="line">
            <a:avLst/>
          </a:prstGeom>
          <a:ln w="127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410712" y="3730752"/>
            <a:ext cx="2057400" cy="10789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575304" y="3904488"/>
            <a:ext cx="384048" cy="384048"/>
          </a:xfrm>
          <a:prstGeom prst="ellipse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75304" y="3959352"/>
            <a:ext cx="384048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50791" y="3913632"/>
            <a:ext cx="128016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40" b="1">
                <a:solidFill>
                  <a:srgbClr val="141A2E"/>
                </a:solidFill>
                <a:latin typeface="Microsoft YaHei"/>
              </a:rPr>
              <a:t>深度坐标获取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50791" y="4206240"/>
            <a:ext cx="1234440" cy="484631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>
              <a:lnSpc>
                <a:spcPct val="105000"/>
              </a:lnSpc>
            </a:pPr>
            <a:r>
              <a:rPr sz="810" b="0">
                <a:solidFill>
                  <a:srgbClr val="5C677D"/>
                </a:solidFill>
                <a:latin typeface="Microsoft YaHei"/>
              </a:rPr>
              <a:t>像素点 + 深度值形成空间点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49824" y="4279392"/>
            <a:ext cx="320040" cy="0"/>
          </a:xfrm>
          <a:prstGeom prst="line">
            <a:avLst/>
          </a:prstGeom>
          <a:ln w="127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035040" y="3730752"/>
            <a:ext cx="2057400" cy="10789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199632" y="3904488"/>
            <a:ext cx="384048" cy="384048"/>
          </a:xfrm>
          <a:prstGeom prst="ellipse">
            <a:avLst/>
          </a:prstGeom>
          <a:solidFill>
            <a:srgbClr val="69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99632" y="3959352"/>
            <a:ext cx="384048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3913632"/>
            <a:ext cx="128016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40" b="1">
                <a:solidFill>
                  <a:srgbClr val="141A2E"/>
                </a:solidFill>
                <a:latin typeface="Microsoft YaHei"/>
              </a:rPr>
              <a:t>手眼标定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4206240"/>
            <a:ext cx="1234440" cy="484631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>
              <a:lnSpc>
                <a:spcPct val="105000"/>
              </a:lnSpc>
            </a:pPr>
            <a:r>
              <a:rPr sz="810" b="0">
                <a:solidFill>
                  <a:srgbClr val="5C677D"/>
                </a:solidFill>
                <a:latin typeface="Microsoft YaHei"/>
              </a:rPr>
              <a:t>建立相机坐标到机械臂坐标的转换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074152" y="4279392"/>
            <a:ext cx="320040" cy="0"/>
          </a:xfrm>
          <a:prstGeom prst="line">
            <a:avLst/>
          </a:prstGeom>
          <a:ln w="127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659367" y="3730752"/>
            <a:ext cx="2057400" cy="10789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8823959" y="3904488"/>
            <a:ext cx="384048" cy="384048"/>
          </a:xfrm>
          <a:prstGeom prst="ellipse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823959" y="3959352"/>
            <a:ext cx="384048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99447" y="3913632"/>
            <a:ext cx="128016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40" b="1">
                <a:solidFill>
                  <a:srgbClr val="141A2E"/>
                </a:solidFill>
                <a:latin typeface="Microsoft YaHei"/>
              </a:rPr>
              <a:t>逆运动学求解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99447" y="4206240"/>
            <a:ext cx="1234440" cy="484631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>
              <a:lnSpc>
                <a:spcPct val="105000"/>
              </a:lnSpc>
            </a:pPr>
            <a:r>
              <a:rPr sz="810" b="0">
                <a:solidFill>
                  <a:srgbClr val="5C677D"/>
                </a:solidFill>
                <a:latin typeface="Microsoft YaHei"/>
              </a:rPr>
              <a:t>根据目标位姿计算关节角度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5800" y="5257800"/>
            <a:ext cx="103784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32688" y="5413248"/>
            <a:ext cx="91440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41A2E"/>
                </a:solidFill>
                <a:latin typeface="Microsoft YaHei"/>
              </a:rPr>
              <a:t>评价指标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920240" y="5413248"/>
            <a:ext cx="1316736" cy="219456"/>
          </a:xfrm>
          <a:prstGeom prst="roundRect">
            <a:avLst/>
          </a:prstGeom>
          <a:solidFill>
            <a:srgbClr val="ED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938528" y="5431536"/>
            <a:ext cx="1280160" cy="192024"/>
          </a:xfrm>
          <a:prstGeom prst="rect">
            <a:avLst/>
          </a:prstGeom>
          <a:noFill/>
        </p:spPr>
        <p:txBody>
          <a:bodyPr wrap="square" lIns="9144" tIns="9144" rIns="9144" bIns="9144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sz="720" b="1">
                <a:solidFill>
                  <a:srgbClr val="1F6FEB"/>
                </a:solidFill>
                <a:latin typeface="Microsoft YaHei"/>
              </a:rPr>
              <a:t>目标识别准确率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584448" y="5413248"/>
            <a:ext cx="1316736" cy="219456"/>
          </a:xfrm>
          <a:prstGeom prst="roundRect">
            <a:avLst/>
          </a:prstGeom>
          <a:solidFill>
            <a:srgbClr val="ED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02736" y="5431536"/>
            <a:ext cx="1280160" cy="192024"/>
          </a:xfrm>
          <a:prstGeom prst="rect">
            <a:avLst/>
          </a:prstGeom>
          <a:noFill/>
        </p:spPr>
        <p:txBody>
          <a:bodyPr wrap="square" lIns="9144" tIns="9144" rIns="9144" bIns="9144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sz="720" b="1">
                <a:solidFill>
                  <a:srgbClr val="20C997"/>
                </a:solidFill>
                <a:latin typeface="Microsoft YaHei"/>
              </a:rPr>
              <a:t>OCR 可读率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248656" y="5413248"/>
            <a:ext cx="1316736" cy="219456"/>
          </a:xfrm>
          <a:prstGeom prst="roundRect">
            <a:avLst/>
          </a:prstGeom>
          <a:solidFill>
            <a:srgbClr val="ED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266944" y="5431536"/>
            <a:ext cx="1280160" cy="192024"/>
          </a:xfrm>
          <a:prstGeom prst="rect">
            <a:avLst/>
          </a:prstGeom>
          <a:noFill/>
        </p:spPr>
        <p:txBody>
          <a:bodyPr wrap="square" lIns="9144" tIns="9144" rIns="9144" bIns="9144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sz="720" b="1">
                <a:solidFill>
                  <a:srgbClr val="695CFF"/>
                </a:solidFill>
                <a:latin typeface="Microsoft YaHei"/>
              </a:rPr>
              <a:t>末端定位误差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912864" y="5413248"/>
            <a:ext cx="1316736" cy="219456"/>
          </a:xfrm>
          <a:prstGeom prst="roundRect">
            <a:avLst/>
          </a:prstGeom>
          <a:solidFill>
            <a:srgbClr val="ED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931152" y="5431536"/>
            <a:ext cx="1280160" cy="192024"/>
          </a:xfrm>
          <a:prstGeom prst="rect">
            <a:avLst/>
          </a:prstGeom>
          <a:noFill/>
        </p:spPr>
        <p:txBody>
          <a:bodyPr wrap="square" lIns="9144" tIns="9144" rIns="9144" bIns="9144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sz="720" b="1">
                <a:solidFill>
                  <a:srgbClr val="FFB74D"/>
                </a:solidFill>
                <a:latin typeface="Microsoft YaHei"/>
              </a:rPr>
              <a:t>抓取/指向成功率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577072" y="5413248"/>
            <a:ext cx="1316736" cy="219456"/>
          </a:xfrm>
          <a:prstGeom prst="roundRect">
            <a:avLst/>
          </a:prstGeom>
          <a:solidFill>
            <a:srgbClr val="ED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595360" y="5431536"/>
            <a:ext cx="1280160" cy="192024"/>
          </a:xfrm>
          <a:prstGeom prst="rect">
            <a:avLst/>
          </a:prstGeom>
          <a:noFill/>
        </p:spPr>
        <p:txBody>
          <a:bodyPr wrap="square" lIns="9144" tIns="9144" rIns="9144" bIns="9144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sz="720" b="1">
                <a:solidFill>
                  <a:srgbClr val="FF8A3D"/>
                </a:solidFill>
                <a:latin typeface="Microsoft YaHei"/>
              </a:rPr>
              <a:t>单次任务响应时间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6510528"/>
            <a:ext cx="10789920" cy="10972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02920" y="6565392"/>
            <a:ext cx="576072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0">
                <a:solidFill>
                  <a:srgbClr val="8A94A6"/>
                </a:solidFill>
                <a:latin typeface="Microsoft YaHei"/>
              </a:rPr>
              <a:t>基于瑞萨 RA6M5 的多模态 AI 机械臂辅学系统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700" b="1">
                <a:solidFill>
                  <a:srgbClr val="8A94A6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11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5029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424160" y="-1051560"/>
            <a:ext cx="3108960" cy="3108960"/>
          </a:xfrm>
          <a:prstGeom prst="ellipse">
            <a:avLst/>
          </a:prstGeom>
          <a:noFill/>
          <a:ln w="12700">
            <a:solidFill>
              <a:srgbClr val="E1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0" y="-502920"/>
            <a:ext cx="2011680" cy="2011680"/>
          </a:xfrm>
          <a:prstGeom prst="ellipse">
            <a:avLst/>
          </a:prstGeom>
          <a:noFill/>
          <a:ln w="12700">
            <a:solidFill>
              <a:srgbClr val="EC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19" y="61704"/>
            <a:ext cx="5367529" cy="55399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dirty="0">
                <a:solidFill>
                  <a:srgbClr val="1F6FEB"/>
                </a:solidFill>
                <a:latin typeface="Microsoft YaHei"/>
              </a:rPr>
              <a:t>0</a:t>
            </a:r>
            <a:r>
              <a:rPr lang="en-US" sz="3200" b="1" dirty="0">
                <a:solidFill>
                  <a:srgbClr val="1F6FEB"/>
                </a:solidFill>
                <a:latin typeface="Microsoft YaHei"/>
              </a:rPr>
              <a:t>3</a:t>
            </a:r>
            <a:r>
              <a:rPr sz="3200" b="1" dirty="0">
                <a:solidFill>
                  <a:srgbClr val="1F6FEB"/>
                </a:solidFill>
                <a:latin typeface="Microsoft YaHei"/>
              </a:rPr>
              <a:t>｜</a:t>
            </a:r>
            <a:r>
              <a:rPr lang="zh-CN" altLang="en-US" sz="3200" b="1" dirty="0">
                <a:solidFill>
                  <a:srgbClr val="1F6F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关键技术（硬件）</a:t>
            </a:r>
            <a:endParaRPr sz="3200" b="1" dirty="0">
              <a:solidFill>
                <a:srgbClr val="1F6F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34319"/>
            <a:ext cx="7955279" cy="37728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dirty="0">
                <a:solidFill>
                  <a:srgbClr val="141A2E"/>
                </a:solidFill>
                <a:latin typeface="Microsoft YaHei"/>
              </a:rPr>
              <a:t>硬件模块｜RA6M5 + </a:t>
            </a:r>
            <a:r>
              <a:rPr sz="2000" b="1" dirty="0" err="1">
                <a:solidFill>
                  <a:srgbClr val="141A2E"/>
                </a:solidFill>
                <a:latin typeface="Microsoft YaHei"/>
              </a:rPr>
              <a:t>FreeRTOS</a:t>
            </a:r>
            <a:r>
              <a:rPr sz="2000" b="1" dirty="0">
                <a:solidFill>
                  <a:srgbClr val="141A2E"/>
                </a:solidFill>
                <a:latin typeface="Microsoft YaHei"/>
              </a:rPr>
              <a:t> </a:t>
            </a:r>
            <a:r>
              <a:rPr sz="2000" b="1" dirty="0" err="1">
                <a:solidFill>
                  <a:srgbClr val="141A2E"/>
                </a:solidFill>
                <a:latin typeface="Microsoft YaHei"/>
              </a:rPr>
              <a:t>支撑实时控制闭环</a:t>
            </a:r>
            <a:endParaRPr sz="2000" b="1" dirty="0">
              <a:solidFill>
                <a:srgbClr val="141A2E"/>
              </a:solidFill>
              <a:latin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" y="1033271"/>
            <a:ext cx="978408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C677D"/>
                </a:solidFill>
                <a:latin typeface="Microsoft YaHei"/>
              </a:rPr>
              <a:t>嵌入式端负责传感器采集、总线舵机控制、安全检测和状态反馈，是系统落地的执行基础。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310896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1F6FEB"/>
                </a:solidFill>
                <a:latin typeface="Microsoft YaHei"/>
              </a:rPr>
              <a:t>09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10881360" cy="16459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737360"/>
            <a:ext cx="2971800" cy="16916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502" y="1828800"/>
            <a:ext cx="2491530" cy="15087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58368" y="3191256"/>
            <a:ext cx="2971800" cy="237744"/>
          </a:xfrm>
          <a:prstGeom prst="rect">
            <a:avLst/>
          </a:prstGeom>
          <a:solidFill>
            <a:srgbClr val="111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" y="3209544"/>
            <a:ext cx="2752344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720" b="1">
                <a:solidFill>
                  <a:srgbClr val="FFFFFF"/>
                </a:solidFill>
                <a:latin typeface="Microsoft YaHei"/>
              </a:rPr>
              <a:t>瑞萨 RA6M5 开发板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22191" y="1737360"/>
            <a:ext cx="2971800" cy="16916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9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971" y="1828800"/>
            <a:ext cx="2682240" cy="150876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822191" y="3191256"/>
            <a:ext cx="2971800" cy="237744"/>
          </a:xfrm>
          <a:prstGeom prst="rect">
            <a:avLst/>
          </a:prstGeom>
          <a:solidFill>
            <a:srgbClr val="111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31920" y="3209544"/>
            <a:ext cx="2752344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720" b="1">
                <a:solidFill>
                  <a:srgbClr val="FFFFFF"/>
                </a:solidFill>
                <a:latin typeface="Microsoft YaHei"/>
              </a:rPr>
              <a:t>FreeRTOS 多任务框架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95160" y="1737360"/>
            <a:ext cx="1920240" cy="16916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995160" y="3191256"/>
            <a:ext cx="1920240" cy="237744"/>
          </a:xfrm>
          <a:prstGeom prst="rect">
            <a:avLst/>
          </a:prstGeom>
          <a:solidFill>
            <a:srgbClr val="111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4888" y="3209544"/>
            <a:ext cx="1700784" cy="18312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lang="zh-CN" altLang="en-US" sz="720" b="1" dirty="0">
                <a:solidFill>
                  <a:srgbClr val="FFFFFF"/>
                </a:solidFill>
                <a:latin typeface="Microsoft YaHei"/>
              </a:rPr>
              <a:t>“眼在手上”机械臂</a:t>
            </a:r>
            <a:endParaRPr sz="72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125712" y="1737360"/>
            <a:ext cx="1828800" cy="16916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25712" y="3191256"/>
            <a:ext cx="1828800" cy="237744"/>
          </a:xfrm>
          <a:prstGeom prst="rect">
            <a:avLst/>
          </a:prstGeom>
          <a:solidFill>
            <a:srgbClr val="111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35440" y="3209544"/>
            <a:ext cx="1609344" cy="18312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lang="zh-CN" altLang="en-US" sz="720" b="1" dirty="0">
                <a:solidFill>
                  <a:srgbClr val="FFFFFF"/>
                </a:solidFill>
                <a:latin typeface="Microsoft YaHei"/>
              </a:rPr>
              <a:t>多模态传感器外设</a:t>
            </a:r>
            <a:endParaRPr sz="72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94944" y="3794760"/>
            <a:ext cx="1024128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2688" y="4005072"/>
            <a:ext cx="146304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41A2E"/>
                </a:solidFill>
                <a:latin typeface="Microsoft YaHei"/>
              </a:rPr>
              <a:t>RTOS 任务划分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" y="4480560"/>
            <a:ext cx="1097280" cy="237744"/>
          </a:xfrm>
          <a:prstGeom prst="roundRect">
            <a:avLst/>
          </a:prstGeom>
          <a:solidFill>
            <a:srgbClr val="E9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0976" y="4498848"/>
            <a:ext cx="1060704" cy="210312"/>
          </a:xfrm>
          <a:prstGeom prst="rect">
            <a:avLst/>
          </a:prstGeom>
          <a:noFill/>
        </p:spPr>
        <p:txBody>
          <a:bodyPr wrap="square" lIns="9144" tIns="9144" rIns="9144" bIns="9144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sz="780" b="1">
                <a:solidFill>
                  <a:srgbClr val="1F6FEB"/>
                </a:solidFill>
                <a:latin typeface="Microsoft YaHei"/>
              </a:rPr>
              <a:t>传感器任务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4828032"/>
            <a:ext cx="192024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>
              <a:lnSpc>
                <a:spcPct val="105000"/>
              </a:lnSpc>
            </a:pPr>
            <a:r>
              <a:rPr sz="760" b="0">
                <a:solidFill>
                  <a:srgbClr val="5C677D"/>
                </a:solidFill>
                <a:latin typeface="Microsoft YaHei"/>
              </a:rPr>
              <a:t>超声波 / 红外 / OLED / RGB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01568" y="4480560"/>
            <a:ext cx="1097280" cy="237744"/>
          </a:xfrm>
          <a:prstGeom prst="roundRect">
            <a:avLst/>
          </a:prstGeom>
          <a:solidFill>
            <a:srgbClr val="EA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19856" y="4498848"/>
            <a:ext cx="1060704" cy="210312"/>
          </a:xfrm>
          <a:prstGeom prst="rect">
            <a:avLst/>
          </a:prstGeom>
          <a:noFill/>
        </p:spPr>
        <p:txBody>
          <a:bodyPr wrap="square" lIns="9144" tIns="9144" rIns="9144" bIns="9144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sz="780" b="1">
                <a:solidFill>
                  <a:srgbClr val="20C997"/>
                </a:solidFill>
                <a:latin typeface="Microsoft YaHei"/>
              </a:rPr>
              <a:t>舵机任务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01568" y="4828032"/>
            <a:ext cx="192024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>
              <a:lnSpc>
                <a:spcPct val="105000"/>
              </a:lnSpc>
            </a:pPr>
            <a:r>
              <a:rPr sz="760" b="0">
                <a:solidFill>
                  <a:srgbClr val="5C677D"/>
                </a:solidFill>
                <a:latin typeface="Microsoft YaHei"/>
              </a:rPr>
              <a:t>ID 寻址 / 位置写入 / 状态读取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70448" y="4480560"/>
            <a:ext cx="1097280" cy="237744"/>
          </a:xfrm>
          <a:prstGeom prst="roundRect">
            <a:avLst/>
          </a:prstGeom>
          <a:solidFill>
            <a:srgbClr val="F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888736" y="4498848"/>
            <a:ext cx="1060704" cy="210312"/>
          </a:xfrm>
          <a:prstGeom prst="rect">
            <a:avLst/>
          </a:prstGeom>
          <a:noFill/>
        </p:spPr>
        <p:txBody>
          <a:bodyPr wrap="square" lIns="9144" tIns="9144" rIns="9144" bIns="9144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sz="780" b="1">
                <a:solidFill>
                  <a:srgbClr val="695CFF"/>
                </a:solidFill>
                <a:latin typeface="Microsoft YaHei"/>
              </a:rPr>
              <a:t>通信任务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70448" y="4828032"/>
            <a:ext cx="192024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>
              <a:lnSpc>
                <a:spcPct val="105000"/>
              </a:lnSpc>
            </a:pPr>
            <a:r>
              <a:rPr sz="760" b="0">
                <a:solidFill>
                  <a:srgbClr val="5C677D"/>
                </a:solidFill>
                <a:latin typeface="Microsoft YaHei"/>
              </a:rPr>
              <a:t>串口协议 / 上位机指令解析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39328" y="4480560"/>
            <a:ext cx="1097280" cy="237744"/>
          </a:xfrm>
          <a:prstGeom prst="roundRect">
            <a:avLst/>
          </a:prstGeom>
          <a:solidFill>
            <a:srgbClr val="FFF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57616" y="4498848"/>
            <a:ext cx="1060704" cy="210312"/>
          </a:xfrm>
          <a:prstGeom prst="rect">
            <a:avLst/>
          </a:prstGeom>
          <a:noFill/>
        </p:spPr>
        <p:txBody>
          <a:bodyPr wrap="square" lIns="9144" tIns="9144" rIns="9144" bIns="9144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sz="780" b="1">
                <a:solidFill>
                  <a:srgbClr val="FFB74D"/>
                </a:solidFill>
                <a:latin typeface="Microsoft YaHei"/>
              </a:rPr>
              <a:t>安全任务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9328" y="4828032"/>
            <a:ext cx="192024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>
              <a:lnSpc>
                <a:spcPct val="105000"/>
              </a:lnSpc>
            </a:pPr>
            <a:r>
              <a:rPr sz="760" b="0">
                <a:solidFill>
                  <a:srgbClr val="5C677D"/>
                </a:solidFill>
                <a:latin typeface="Microsoft YaHei"/>
              </a:rPr>
              <a:t>关节限位 / 障碍检测 / 异常停机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3232" y="5733288"/>
            <a:ext cx="10149840" cy="310896"/>
          </a:xfrm>
          <a:prstGeom prst="roundRect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1520" y="5751575"/>
            <a:ext cx="10113264" cy="283464"/>
          </a:xfrm>
          <a:prstGeom prst="rect">
            <a:avLst/>
          </a:prstGeom>
          <a:noFill/>
        </p:spPr>
        <p:txBody>
          <a:bodyPr wrap="square" lIns="9144" tIns="9144" rIns="9144" bIns="9144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sz="860" b="1">
                <a:solidFill>
                  <a:srgbClr val="1F6FEB"/>
                </a:solidFill>
                <a:latin typeface="Microsoft YaHei"/>
              </a:rPr>
              <a:t>硬件亮点：用 RA6M5 保障实时控制，用多传感器增强安全性，用统一任务调度降低系统联调难度。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6510528"/>
            <a:ext cx="10789920" cy="10972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920" y="6565392"/>
            <a:ext cx="576072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0">
                <a:solidFill>
                  <a:srgbClr val="8A94A6"/>
                </a:solidFill>
                <a:latin typeface="Microsoft YaHei"/>
              </a:rPr>
              <a:t>基于瑞萨 RA6M5 的多模态 AI 机械臂辅学系统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700" b="1">
                <a:solidFill>
                  <a:srgbClr val="8A94A6"/>
                </a:solidFill>
                <a:latin typeface="Microsoft YaHei"/>
              </a:rPr>
              <a:t>09</a:t>
            </a:r>
          </a:p>
        </p:txBody>
      </p:sp>
      <p:pic>
        <p:nvPicPr>
          <p:cNvPr id="47" name="Picture 20" descr="image99.jpeg">
            <a:extLst>
              <a:ext uri="{FF2B5EF4-FFF2-40B4-BE49-F238E27FC236}">
                <a16:creationId xmlns:a16="http://schemas.microsoft.com/office/drawing/2014/main" id="{764C0E2E-7D8F-3217-DDB2-BA1A758373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2861" y="1792223"/>
            <a:ext cx="1052592" cy="1407801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3559C676-86E5-60B3-2922-133E534DE2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712" y="2565418"/>
            <a:ext cx="872919" cy="581946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813127B9-3D7C-44B1-AE16-0B084E4253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2397" y="1830922"/>
            <a:ext cx="983476" cy="686627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FE380DD4-44AD-9946-BBBC-00D7CF2339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5809" y="2578699"/>
            <a:ext cx="926991" cy="5762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11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5029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424160" y="-1051560"/>
            <a:ext cx="3108960" cy="3108960"/>
          </a:xfrm>
          <a:prstGeom prst="ellipse">
            <a:avLst/>
          </a:prstGeom>
          <a:noFill/>
          <a:ln w="12700">
            <a:solidFill>
              <a:srgbClr val="E1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0" y="-502920"/>
            <a:ext cx="2011680" cy="2011680"/>
          </a:xfrm>
          <a:prstGeom prst="ellipse">
            <a:avLst/>
          </a:prstGeom>
          <a:noFill/>
          <a:ln w="12700">
            <a:solidFill>
              <a:srgbClr val="EC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9203" y="69428"/>
            <a:ext cx="4178808" cy="559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dirty="0">
                <a:solidFill>
                  <a:srgbClr val="1F6FEB"/>
                </a:solidFill>
                <a:latin typeface="Microsoft YaHei"/>
              </a:rPr>
              <a:t>0</a:t>
            </a:r>
            <a:r>
              <a:rPr lang="en-US" sz="3200" b="1" dirty="0">
                <a:solidFill>
                  <a:srgbClr val="1F6FEB"/>
                </a:solidFill>
                <a:latin typeface="Microsoft YaHei"/>
              </a:rPr>
              <a:t>3</a:t>
            </a:r>
            <a:r>
              <a:rPr sz="3200" b="1" dirty="0">
                <a:solidFill>
                  <a:srgbClr val="1F6FEB"/>
                </a:solidFill>
                <a:latin typeface="Microsoft YaHei"/>
              </a:rPr>
              <a:t>｜</a:t>
            </a:r>
            <a:r>
              <a:rPr lang="zh-CN" altLang="en-US" sz="3200" b="1" dirty="0">
                <a:solidFill>
                  <a:srgbClr val="1F6F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关键技术（软件）</a:t>
            </a:r>
            <a:endParaRPr sz="3200" b="1" dirty="0">
              <a:solidFill>
                <a:srgbClr val="1F6F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0352" y="613684"/>
            <a:ext cx="7955279" cy="37728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dirty="0" err="1">
                <a:solidFill>
                  <a:srgbClr val="141A2E"/>
                </a:solidFill>
                <a:latin typeface="Microsoft YaHei"/>
              </a:rPr>
              <a:t>软件模块｜Web</a:t>
            </a:r>
            <a:r>
              <a:rPr sz="2000" b="1" dirty="0">
                <a:solidFill>
                  <a:srgbClr val="141A2E"/>
                </a:solidFill>
                <a:latin typeface="Microsoft YaHei"/>
              </a:rPr>
              <a:t> </a:t>
            </a:r>
            <a:r>
              <a:rPr sz="2000" b="1" dirty="0" err="1">
                <a:solidFill>
                  <a:srgbClr val="141A2E"/>
                </a:solidFill>
                <a:latin typeface="Microsoft YaHei"/>
              </a:rPr>
              <a:t>可视化</a:t>
            </a:r>
            <a:r>
              <a:rPr sz="2000" b="1" dirty="0">
                <a:solidFill>
                  <a:srgbClr val="141A2E"/>
                </a:solidFill>
                <a:latin typeface="Microsoft YaHei"/>
              </a:rPr>
              <a:t> + </a:t>
            </a:r>
            <a:r>
              <a:rPr sz="2000" b="1" dirty="0" err="1">
                <a:solidFill>
                  <a:srgbClr val="141A2E"/>
                </a:solidFill>
                <a:latin typeface="Microsoft YaHei"/>
              </a:rPr>
              <a:t>智能</a:t>
            </a:r>
            <a:r>
              <a:rPr sz="2000" b="1" dirty="0">
                <a:solidFill>
                  <a:srgbClr val="141A2E"/>
                </a:solidFill>
                <a:latin typeface="Microsoft YaHei"/>
              </a:rPr>
              <a:t> Agent </a:t>
            </a:r>
            <a:r>
              <a:rPr sz="2000" b="1" dirty="0" err="1">
                <a:solidFill>
                  <a:srgbClr val="141A2E"/>
                </a:solidFill>
                <a:latin typeface="Microsoft YaHei"/>
              </a:rPr>
              <a:t>打通交互入口</a:t>
            </a:r>
            <a:endParaRPr sz="2000" b="1" dirty="0">
              <a:solidFill>
                <a:srgbClr val="141A2E"/>
              </a:solidFill>
              <a:latin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" y="1033271"/>
            <a:ext cx="978408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>
              <a:lnSpc>
                <a:spcPct val="105000"/>
              </a:lnSpc>
            </a:pPr>
            <a:r>
              <a:rPr sz="1000" b="0" dirty="0" err="1">
                <a:solidFill>
                  <a:srgbClr val="5C677D"/>
                </a:solidFill>
                <a:latin typeface="Microsoft YaHei"/>
              </a:rPr>
              <a:t>上位机与云端智能负责识别、规划和状态展示，嵌入式端负责动作执行和实时反馈</a:t>
            </a:r>
            <a:r>
              <a:rPr sz="1000" b="0" dirty="0">
                <a:solidFill>
                  <a:srgbClr val="5C677D"/>
                </a:solidFill>
                <a:latin typeface="Microsoft YaHei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310896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1F6FEB"/>
                </a:solidFill>
                <a:latin typeface="Microsoft YaHei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10881360" cy="16459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737360"/>
            <a:ext cx="3840480" cy="1874519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92" y="1828800"/>
            <a:ext cx="3566830" cy="169163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58368" y="3374135"/>
            <a:ext cx="3840480" cy="237744"/>
          </a:xfrm>
          <a:prstGeom prst="rect">
            <a:avLst/>
          </a:prstGeom>
          <a:solidFill>
            <a:srgbClr val="111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" y="3392424"/>
            <a:ext cx="3621024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720" b="1">
                <a:solidFill>
                  <a:srgbClr val="FFFFFF"/>
                </a:solidFill>
                <a:latin typeface="Microsoft YaHei"/>
              </a:rPr>
              <a:t>Web 端控制与状态显示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1737360"/>
            <a:ext cx="2423160" cy="1874519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1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420" y="1828800"/>
            <a:ext cx="1956639" cy="1691639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709160" y="3374135"/>
            <a:ext cx="2423160" cy="237744"/>
          </a:xfrm>
          <a:prstGeom prst="rect">
            <a:avLst/>
          </a:prstGeom>
          <a:solidFill>
            <a:srgbClr val="111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18888" y="3392424"/>
            <a:ext cx="2203704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720" b="1">
                <a:solidFill>
                  <a:srgbClr val="FFFFFF"/>
                </a:solidFill>
                <a:latin typeface="Microsoft YaHei"/>
              </a:rPr>
              <a:t>Agent 任务调度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1737360"/>
            <a:ext cx="3566160" cy="1874519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1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161" y="1828800"/>
            <a:ext cx="2689676" cy="1691639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7360920" y="3374135"/>
            <a:ext cx="3566160" cy="237744"/>
          </a:xfrm>
          <a:prstGeom prst="rect">
            <a:avLst/>
          </a:prstGeom>
          <a:solidFill>
            <a:srgbClr val="111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70648" y="3392424"/>
            <a:ext cx="3346704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720" b="1">
                <a:solidFill>
                  <a:srgbClr val="FFFFFF"/>
                </a:solidFill>
                <a:latin typeface="Microsoft YaHei"/>
              </a:rPr>
              <a:t>智能交互流程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069080"/>
            <a:ext cx="315468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8" y="4069080"/>
            <a:ext cx="64008" cy="1234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59536" y="425196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536" y="4306824"/>
            <a:ext cx="365760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16736" y="4242816"/>
            <a:ext cx="23317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41A2E"/>
                </a:solidFill>
                <a:latin typeface="Microsoft YaHei"/>
              </a:rPr>
              <a:t>Web 端展示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4636008"/>
            <a:ext cx="2752344" cy="55778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050">
                <a:solidFill>
                  <a:srgbClr val="5C677D"/>
                </a:solidFill>
                <a:latin typeface="Microsoft YaHei"/>
              </a:defRPr>
            </a:pPr>
            <a:r>
              <a:t>• 设备状态、识别结果、任务进度可视化。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50">
                <a:solidFill>
                  <a:srgbClr val="5C677D"/>
                </a:solidFill>
                <a:latin typeface="Microsoft YaHei"/>
              </a:defRPr>
            </a:pPr>
            <a:r>
              <a:t>• 便于调试、演示和记录实验数据。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69080" y="4069080"/>
            <a:ext cx="315468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069080" y="4069080"/>
            <a:ext cx="64008" cy="1234440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270248" y="4251960"/>
            <a:ext cx="365760" cy="365760"/>
          </a:xfrm>
          <a:prstGeom prst="ellipse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70248" y="4306824"/>
            <a:ext cx="365760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27448" y="4242816"/>
            <a:ext cx="23317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41A2E"/>
                </a:solidFill>
                <a:latin typeface="Microsoft YaHei"/>
              </a:rPr>
              <a:t>Python 中间层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88536" y="4636008"/>
            <a:ext cx="2752344" cy="557784"/>
          </a:xfrm>
          <a:prstGeom prst="rect">
            <a:avLst/>
          </a:prstGeom>
          <a:noFill/>
        </p:spPr>
        <p:txBody>
          <a:bodyPr wrap="square" lIns="36576" tIns="36576" rIns="36576" bIns="36576">
            <a:normAutofit fontScale="92500"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050">
                <a:solidFill>
                  <a:srgbClr val="5C677D"/>
                </a:solidFill>
                <a:latin typeface="Microsoft YaHei"/>
              </a:defRPr>
            </a:pPr>
            <a:r>
              <a:t>• 串口通信、OpenCV 图像处理、OCR 调用。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50">
                <a:solidFill>
                  <a:srgbClr val="5C677D"/>
                </a:solidFill>
                <a:latin typeface="Microsoft YaHei"/>
              </a:defRPr>
            </a:pPr>
            <a:r>
              <a:t>• 将模型结果转换为机械臂控制指令。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79792" y="4069080"/>
            <a:ext cx="315468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479792" y="4069080"/>
            <a:ext cx="64008" cy="1234440"/>
          </a:xfrm>
          <a:prstGeom prst="rect">
            <a:avLst/>
          </a:prstGeom>
          <a:solidFill>
            <a:srgbClr val="69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680960" y="4251960"/>
            <a:ext cx="365760" cy="365760"/>
          </a:xfrm>
          <a:prstGeom prst="ellipse">
            <a:avLst/>
          </a:prstGeom>
          <a:solidFill>
            <a:srgbClr val="69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80960" y="4306824"/>
            <a:ext cx="365760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4242816"/>
            <a:ext cx="23317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41A2E"/>
                </a:solidFill>
                <a:latin typeface="Microsoft YaHei"/>
              </a:rPr>
              <a:t>智能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99248" y="4636008"/>
            <a:ext cx="2752344" cy="55778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050">
                <a:solidFill>
                  <a:srgbClr val="5C677D"/>
                </a:solidFill>
                <a:latin typeface="Microsoft YaHei"/>
              </a:defRPr>
            </a:pPr>
            <a:r>
              <a:t>• 把自然语言任务拆解成动作序列。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50">
                <a:solidFill>
                  <a:srgbClr val="5C677D"/>
                </a:solidFill>
                <a:latin typeface="Microsoft YaHei"/>
              </a:defRPr>
            </a:pPr>
            <a:r>
              <a:t>• 结合安全约束与状态反馈进行任务推进。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5779008"/>
            <a:ext cx="10287000" cy="310896"/>
          </a:xfrm>
          <a:prstGeom prst="roundRect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04088" y="5797296"/>
            <a:ext cx="10250424" cy="283464"/>
          </a:xfrm>
          <a:prstGeom prst="rect">
            <a:avLst/>
          </a:prstGeom>
          <a:noFill/>
        </p:spPr>
        <p:txBody>
          <a:bodyPr wrap="square" lIns="9144" tIns="9144" rIns="9144" bIns="9144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sz="860" b="1">
                <a:solidFill>
                  <a:srgbClr val="1F6FEB"/>
                </a:solidFill>
                <a:latin typeface="Microsoft YaHei"/>
              </a:rPr>
              <a:t>软件目标：形成稳定的“输入—识别—规划—执行—反馈”链路，为答辩演示和后续实验提供可视化入口。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6510528"/>
            <a:ext cx="10789920" cy="10972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920" y="6565392"/>
            <a:ext cx="576072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0">
                <a:solidFill>
                  <a:srgbClr val="8A94A6"/>
                </a:solidFill>
                <a:latin typeface="Microsoft YaHei"/>
              </a:rPr>
              <a:t>基于瑞萨 RA6M5 的多模态 AI 机械臂辅学系统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700" b="1">
                <a:solidFill>
                  <a:srgbClr val="8A94A6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11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5029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424160" y="-1051560"/>
            <a:ext cx="3108960" cy="3108960"/>
          </a:xfrm>
          <a:prstGeom prst="ellipse">
            <a:avLst/>
          </a:prstGeom>
          <a:noFill/>
          <a:ln w="12700">
            <a:solidFill>
              <a:srgbClr val="E1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0" y="-502920"/>
            <a:ext cx="2011680" cy="2011680"/>
          </a:xfrm>
          <a:prstGeom prst="ellipse">
            <a:avLst/>
          </a:prstGeom>
          <a:noFill/>
          <a:ln w="12700">
            <a:solidFill>
              <a:srgbClr val="EC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70847"/>
            <a:ext cx="3985953" cy="559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dirty="0">
                <a:solidFill>
                  <a:srgbClr val="1F6FEB"/>
                </a:solidFill>
                <a:latin typeface="Microsoft YaHei"/>
              </a:rPr>
              <a:t>0</a:t>
            </a:r>
            <a:r>
              <a:rPr lang="en-US" sz="3200" b="1" dirty="0">
                <a:solidFill>
                  <a:srgbClr val="1F6FEB"/>
                </a:solidFill>
                <a:latin typeface="Microsoft YaHei"/>
              </a:rPr>
              <a:t>4</a:t>
            </a:r>
            <a:r>
              <a:rPr sz="3200" b="1" dirty="0">
                <a:solidFill>
                  <a:srgbClr val="1F6FEB"/>
                </a:solidFill>
                <a:latin typeface="Microsoft YaHei"/>
              </a:rPr>
              <a:t>｜创新成果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2067"/>
            <a:ext cx="7955279" cy="37728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dirty="0" err="1">
                <a:solidFill>
                  <a:srgbClr val="141A2E"/>
                </a:solidFill>
                <a:latin typeface="Microsoft YaHei"/>
              </a:rPr>
              <a:t>创新点｜算法、硬件、软件联合创新</a:t>
            </a:r>
            <a:endParaRPr sz="2000" b="1" dirty="0">
              <a:solidFill>
                <a:srgbClr val="141A2E"/>
              </a:solidFill>
              <a:latin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" y="1033271"/>
            <a:ext cx="978408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>
              <a:lnSpc>
                <a:spcPct val="105000"/>
              </a:lnSpc>
            </a:pPr>
            <a:r>
              <a:rPr sz="1000" b="0" dirty="0" err="1">
                <a:solidFill>
                  <a:srgbClr val="5C677D"/>
                </a:solidFill>
                <a:latin typeface="Microsoft YaHei"/>
              </a:rPr>
              <a:t>项目创新不仅在模型改进，更在于把视觉识别、大模型规划和实时控制做成可演示闭环</a:t>
            </a:r>
            <a:r>
              <a:rPr sz="1000" b="0" dirty="0">
                <a:solidFill>
                  <a:srgbClr val="5C677D"/>
                </a:solidFill>
                <a:latin typeface="Microsoft YaHei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310896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1F6FEB"/>
                </a:solidFill>
                <a:latin typeface="Microsoft YaHei"/>
              </a:rPr>
              <a:t>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10881360" cy="16459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737360"/>
            <a:ext cx="30632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1737360"/>
            <a:ext cx="64008" cy="1234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9536" y="192024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1975104"/>
            <a:ext cx="365760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1911095"/>
            <a:ext cx="224028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41A2E"/>
                </a:solidFill>
                <a:latin typeface="Microsoft YaHei"/>
              </a:rPr>
              <a:t>算法创新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2304288"/>
            <a:ext cx="2660904" cy="55778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940">
                <a:solidFill>
                  <a:srgbClr val="5C677D"/>
                </a:solidFill>
                <a:latin typeface="Microsoft YaHei"/>
              </a:defRPr>
            </a:pPr>
            <a:r>
              <a:t>• YOLO11 引入 CBAM 与特征金字塔，降低参数量并提升小目标检测稳定性。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4369" y="3122676"/>
            <a:ext cx="30632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2365" y="3143366"/>
            <a:ext cx="64008" cy="1234440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50184" y="3246120"/>
            <a:ext cx="365760" cy="365760"/>
          </a:xfrm>
          <a:prstGeom prst="ellipse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184" y="3347687"/>
            <a:ext cx="365760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5756" y="3214116"/>
            <a:ext cx="224028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dirty="0" err="1">
                <a:solidFill>
                  <a:srgbClr val="141A2E"/>
                </a:solidFill>
                <a:latin typeface="Microsoft YaHei"/>
              </a:rPr>
              <a:t>识别链路创新</a:t>
            </a:r>
            <a:endParaRPr sz="1300" b="1" dirty="0">
              <a:solidFill>
                <a:srgbClr val="141A2E"/>
              </a:solidFill>
              <a:latin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6112" y="3765019"/>
            <a:ext cx="2660904" cy="55778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940">
                <a:solidFill>
                  <a:srgbClr val="5C677D"/>
                </a:solidFill>
                <a:latin typeface="Microsoft YaHei"/>
              </a:defRPr>
            </a:pPr>
            <a:r>
              <a:rPr dirty="0"/>
              <a:t>• YOLO11 </a:t>
            </a:r>
            <a:r>
              <a:rPr dirty="0" err="1"/>
              <a:t>先定位文字区域，再交由</a:t>
            </a:r>
            <a:r>
              <a:rPr dirty="0"/>
              <a:t> OCR </a:t>
            </a:r>
            <a:r>
              <a:rPr dirty="0" err="1"/>
              <a:t>和大模型处理，提升题目识别鲁棒性</a:t>
            </a:r>
            <a:r>
              <a:rPr dirty="0"/>
              <a:t>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2365" y="4472476"/>
            <a:ext cx="30632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2365" y="4472476"/>
            <a:ext cx="64008" cy="1234440"/>
          </a:xfrm>
          <a:prstGeom prst="rect">
            <a:avLst/>
          </a:prstGeom>
          <a:solidFill>
            <a:srgbClr val="69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43533" y="4655356"/>
            <a:ext cx="365760" cy="365760"/>
          </a:xfrm>
          <a:prstGeom prst="ellipse">
            <a:avLst/>
          </a:prstGeom>
          <a:solidFill>
            <a:srgbClr val="69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3533" y="4710220"/>
            <a:ext cx="365760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00733" y="4646211"/>
            <a:ext cx="224028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41A2E"/>
                </a:solidFill>
                <a:latin typeface="Microsoft YaHei"/>
              </a:rPr>
              <a:t>系统闭环创新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821" y="5039404"/>
            <a:ext cx="2660904" cy="55778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940">
                <a:solidFill>
                  <a:srgbClr val="5C677D"/>
                </a:solidFill>
                <a:latin typeface="Microsoft YaHei"/>
              </a:defRPr>
            </a:pPr>
            <a:r>
              <a:rPr dirty="0"/>
              <a:t>• RA6M5 </a:t>
            </a:r>
            <a:r>
              <a:rPr dirty="0" err="1"/>
              <a:t>实时控制、多传感器反馈与</a:t>
            </a:r>
            <a:r>
              <a:rPr dirty="0"/>
              <a:t> Agent </a:t>
            </a:r>
            <a:r>
              <a:rPr dirty="0" err="1"/>
              <a:t>任务规划联动</a:t>
            </a:r>
            <a:r>
              <a:rPr dirty="0"/>
              <a:t>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" y="5742432"/>
            <a:ext cx="10168128" cy="310896"/>
          </a:xfrm>
          <a:prstGeom prst="roundRect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78408" y="5750808"/>
            <a:ext cx="10131552" cy="283464"/>
          </a:xfrm>
          <a:prstGeom prst="rect">
            <a:avLst/>
          </a:prstGeom>
          <a:noFill/>
        </p:spPr>
        <p:txBody>
          <a:bodyPr wrap="square" lIns="9144" tIns="9144" rIns="9144" bIns="9144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sz="860" b="1" dirty="0" err="1">
                <a:solidFill>
                  <a:srgbClr val="1F6FEB"/>
                </a:solidFill>
                <a:latin typeface="Microsoft YaHei"/>
              </a:rPr>
              <a:t>成果逻辑：算法改进产生论文基础，系统闭环形成专利点，工程集成沉淀样机与研究报告</a:t>
            </a:r>
            <a:r>
              <a:rPr sz="860" b="1" dirty="0">
                <a:solidFill>
                  <a:srgbClr val="1F6FEB"/>
                </a:solidFill>
                <a:latin typeface="Microsoft YaHei"/>
              </a:rPr>
              <a:t>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6510528"/>
            <a:ext cx="10789920" cy="10972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2920" y="6565392"/>
            <a:ext cx="576072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0">
                <a:solidFill>
                  <a:srgbClr val="8A94A6"/>
                </a:solidFill>
                <a:latin typeface="Microsoft YaHei"/>
              </a:rPr>
              <a:t>基于瑞萨 RA6M5 的多模态 AI 机械臂辅学系统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700" b="1">
                <a:solidFill>
                  <a:srgbClr val="8A94A6"/>
                </a:solidFill>
                <a:latin typeface="Microsoft YaHei"/>
              </a:rPr>
              <a:t>12</a:t>
            </a:r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6EBA3795-4D7A-304A-F5B1-79FBDB398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609" y="1305824"/>
            <a:ext cx="3961223" cy="1014275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C53F4C15-1E59-A289-AB05-B5EF649C5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560" y="1215698"/>
            <a:ext cx="4313491" cy="1122164"/>
          </a:xfrm>
          <a:prstGeom prst="rect">
            <a:avLst/>
          </a:prstGeom>
        </p:spPr>
      </p:pic>
      <p:sp>
        <p:nvSpPr>
          <p:cNvPr id="61" name="Rounded Rectangle 47">
            <a:extLst>
              <a:ext uri="{FF2B5EF4-FFF2-40B4-BE49-F238E27FC236}">
                <a16:creationId xmlns:a16="http://schemas.microsoft.com/office/drawing/2014/main" id="{AE231B90-0AC6-6441-A9D7-0DA2DABB9933}"/>
              </a:ext>
            </a:extLst>
          </p:cNvPr>
          <p:cNvSpPr/>
          <p:nvPr/>
        </p:nvSpPr>
        <p:spPr>
          <a:xfrm>
            <a:off x="3721608" y="2323655"/>
            <a:ext cx="3961223" cy="184975"/>
          </a:xfrm>
          <a:prstGeom prst="roundRect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引入</a:t>
            </a: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CBAM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后参数量明显减少，较大模型更明显</a:t>
            </a:r>
            <a:endParaRPr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2" name="Rounded Rectangle 47">
            <a:extLst>
              <a:ext uri="{FF2B5EF4-FFF2-40B4-BE49-F238E27FC236}">
                <a16:creationId xmlns:a16="http://schemas.microsoft.com/office/drawing/2014/main" id="{3155CC1F-1B37-6D42-343A-DF57C0A8C4D3}"/>
              </a:ext>
            </a:extLst>
          </p:cNvPr>
          <p:cNvSpPr/>
          <p:nvPr/>
        </p:nvSpPr>
        <p:spPr>
          <a:xfrm>
            <a:off x="7808560" y="2312372"/>
            <a:ext cx="4154840" cy="192702"/>
          </a:xfrm>
          <a:prstGeom prst="roundRect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改进后的网络精度得到提升</a:t>
            </a:r>
            <a:endParaRPr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379C0978-F447-A092-38DC-6E9367CFBD7D}"/>
              </a:ext>
            </a:extLst>
          </p:cNvPr>
          <p:cNvSpPr txBox="1"/>
          <p:nvPr/>
        </p:nvSpPr>
        <p:spPr>
          <a:xfrm>
            <a:off x="3705605" y="2508630"/>
            <a:ext cx="836615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/>
              <a:t>引入 </a:t>
            </a:r>
            <a:r>
              <a:rPr lang="en-US" altLang="zh-CN" sz="1100" b="1" dirty="0"/>
              <a:t>CBAM </a:t>
            </a:r>
            <a:r>
              <a:rPr lang="zh-CN" altLang="en-US" sz="1100" b="1" dirty="0"/>
              <a:t>注意力机制后，模型能够更加关注目标区域的关键特征，并抑制复杂背景中的无关信息。与原始 </a:t>
            </a:r>
            <a:r>
              <a:rPr lang="en-US" altLang="zh-CN" sz="1100" b="1" dirty="0"/>
              <a:t>YOLO11 </a:t>
            </a:r>
            <a:r>
              <a:rPr lang="zh-CN" altLang="en-US" sz="1100" b="1" dirty="0"/>
              <a:t>模型相比，改进后的 </a:t>
            </a:r>
            <a:r>
              <a:rPr lang="en-US" altLang="zh-CN" sz="1100" b="1" dirty="0"/>
              <a:t>YOLO11-CBAM </a:t>
            </a:r>
            <a:r>
              <a:rPr lang="zh-CN" altLang="en-US" sz="1100" b="1" dirty="0"/>
              <a:t>在参数量和计算量降低的同时，检测精度得到提升。其中，</a:t>
            </a:r>
            <a:r>
              <a:rPr lang="en-US" altLang="zh-CN" sz="1100" b="1" dirty="0"/>
              <a:t>mAP@0.5 </a:t>
            </a:r>
            <a:r>
              <a:rPr lang="zh-CN" altLang="en-US" sz="1100" b="1" dirty="0"/>
              <a:t>提高了 </a:t>
            </a:r>
            <a:r>
              <a:rPr lang="en-US" altLang="zh-CN" sz="1100" b="1" dirty="0"/>
              <a:t>1.1%</a:t>
            </a:r>
            <a:r>
              <a:rPr lang="zh-CN" altLang="en-US" sz="1100" b="1" dirty="0"/>
              <a:t>，</a:t>
            </a:r>
            <a:r>
              <a:rPr lang="en-US" altLang="zh-CN" sz="1100" b="1" dirty="0"/>
              <a:t>mAP@0.5:0.95 </a:t>
            </a:r>
            <a:r>
              <a:rPr lang="zh-CN" altLang="en-US" sz="1100" b="1" dirty="0"/>
              <a:t>提高了 </a:t>
            </a:r>
            <a:r>
              <a:rPr lang="en-US" altLang="zh-CN" sz="1100" b="1" dirty="0"/>
              <a:t>1.6%</a:t>
            </a:r>
            <a:r>
              <a:rPr lang="zh-CN" altLang="en-US" sz="1100" b="1" dirty="0"/>
              <a:t>，说明 </a:t>
            </a:r>
            <a:r>
              <a:rPr lang="en-US" altLang="zh-CN" sz="1100" b="1" dirty="0"/>
              <a:t>CBAM </a:t>
            </a:r>
            <a:r>
              <a:rPr lang="zh-CN" altLang="en-US" sz="1100" b="1" dirty="0"/>
              <a:t>模块能够有效增强模型的特征表达能力</a:t>
            </a:r>
          </a:p>
        </p:txBody>
      </p:sp>
      <p:pic>
        <p:nvPicPr>
          <p:cNvPr id="2050" name="Picture 2" descr="Symmetry 17 01198 g008">
            <a:extLst>
              <a:ext uri="{FF2B5EF4-FFF2-40B4-BE49-F238E27FC236}">
                <a16:creationId xmlns:a16="http://schemas.microsoft.com/office/drawing/2014/main" id="{78EAFC96-BF31-A047-F8BF-5B1455DD8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9613" y="3126778"/>
            <a:ext cx="4173660" cy="1514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文本框 65">
            <a:extLst>
              <a:ext uri="{FF2B5EF4-FFF2-40B4-BE49-F238E27FC236}">
                <a16:creationId xmlns:a16="http://schemas.microsoft.com/office/drawing/2014/main" id="{218334F7-9FDC-EAF4-DB3D-EA38B63BD1E1}"/>
              </a:ext>
            </a:extLst>
          </p:cNvPr>
          <p:cNvSpPr txBox="1"/>
          <p:nvPr/>
        </p:nvSpPr>
        <p:spPr>
          <a:xfrm>
            <a:off x="7943273" y="3541088"/>
            <a:ext cx="26332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利用</a:t>
            </a:r>
            <a:r>
              <a:rPr lang="en-US" altLang="zh-CN" sz="1200" b="1" dirty="0"/>
              <a:t>YOLO</a:t>
            </a:r>
            <a:r>
              <a:rPr lang="zh-CN" altLang="en-US" sz="1200" b="1" dirty="0"/>
              <a:t>快而准的特点辅助</a:t>
            </a:r>
            <a:r>
              <a:rPr lang="en-US" altLang="zh-CN" sz="1200" b="1" dirty="0"/>
              <a:t>OCR</a:t>
            </a:r>
            <a:r>
              <a:rPr lang="zh-CN" altLang="en-US" sz="1200" b="1" dirty="0"/>
              <a:t>进行文字识别，创新性的改进视觉定位方式</a:t>
            </a:r>
          </a:p>
        </p:txBody>
      </p:sp>
      <p:pic>
        <p:nvPicPr>
          <p:cNvPr id="2051" name="Picture 3" descr="在这里插入图片描述">
            <a:extLst>
              <a:ext uri="{FF2B5EF4-FFF2-40B4-BE49-F238E27FC236}">
                <a16:creationId xmlns:a16="http://schemas.microsoft.com/office/drawing/2014/main" id="{C1FFC4C2-DD72-5C52-7F9E-9E0B4BBAA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645" y="4627005"/>
            <a:ext cx="2536469" cy="1129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" name="文本框 66">
            <a:extLst>
              <a:ext uri="{FF2B5EF4-FFF2-40B4-BE49-F238E27FC236}">
                <a16:creationId xmlns:a16="http://schemas.microsoft.com/office/drawing/2014/main" id="{96EAB16F-E301-2F11-9E5C-D0C0E10A5CD3}"/>
              </a:ext>
            </a:extLst>
          </p:cNvPr>
          <p:cNvSpPr txBox="1"/>
          <p:nvPr/>
        </p:nvSpPr>
        <p:spPr>
          <a:xfrm>
            <a:off x="7945305" y="4498325"/>
            <a:ext cx="34192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+mn-ea"/>
              </a:rPr>
              <a:t>融合多传感器数据采集、状态感知与闭环反馈机制，实现对执行端的高精度、低延迟动态调控；同时将底层感知与控制结果与上层 </a:t>
            </a:r>
            <a:r>
              <a:rPr lang="en-US" altLang="zh-CN" sz="1200" b="1" dirty="0">
                <a:latin typeface="+mn-ea"/>
              </a:rPr>
              <a:t>Agent </a:t>
            </a:r>
            <a:r>
              <a:rPr lang="zh-CN" altLang="en-US" sz="1200" b="1" dirty="0">
                <a:latin typeface="+mn-ea"/>
              </a:rPr>
              <a:t>任务规划模块联动，使系统能够依据环境变化与任务目标进行自主决策、路径调整与策略优化，形成“感知</a:t>
            </a:r>
            <a:r>
              <a:rPr lang="en-US" altLang="zh-CN" sz="1200" b="1" dirty="0">
                <a:latin typeface="+mn-ea"/>
              </a:rPr>
              <a:t>—</a:t>
            </a:r>
            <a:r>
              <a:rPr lang="zh-CN" altLang="en-US" sz="1200" b="1" dirty="0">
                <a:latin typeface="+mn-ea"/>
              </a:rPr>
              <a:t>决策</a:t>
            </a:r>
            <a:r>
              <a:rPr lang="en-US" altLang="zh-CN" sz="1200" b="1" dirty="0">
                <a:latin typeface="+mn-ea"/>
              </a:rPr>
              <a:t>—</a:t>
            </a:r>
            <a:r>
              <a:rPr lang="zh-CN" altLang="en-US" sz="1200" b="1" dirty="0">
                <a:latin typeface="+mn-ea"/>
              </a:rPr>
              <a:t>执行</a:t>
            </a:r>
            <a:r>
              <a:rPr lang="en-US" altLang="zh-CN" sz="1200" b="1" dirty="0">
                <a:latin typeface="+mn-ea"/>
              </a:rPr>
              <a:t>—</a:t>
            </a:r>
            <a:r>
              <a:rPr lang="zh-CN" altLang="en-US" sz="1200" b="1" dirty="0">
                <a:latin typeface="+mn-ea"/>
              </a:rPr>
              <a:t>反馈”的智能化控制闭环。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CA225-543A-129F-067E-6B5AF23D8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441C3C-D39C-F723-0359-185FE2605324}"/>
              </a:ext>
            </a:extLst>
          </p:cNvPr>
          <p:cNvSpPr/>
          <p:nvPr/>
        </p:nvSpPr>
        <p:spPr>
          <a:xfrm>
            <a:off x="305" y="24306"/>
            <a:ext cx="12191695" cy="6858000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63214C-B4B9-2F4B-D03D-D5892DD7986C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11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3B0447-E4F2-FBE8-49D2-9900AA39C811}"/>
              </a:ext>
            </a:extLst>
          </p:cNvPr>
          <p:cNvSpPr/>
          <p:nvPr/>
        </p:nvSpPr>
        <p:spPr>
          <a:xfrm>
            <a:off x="228600" y="0"/>
            <a:ext cx="5029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1195401-589D-9DB9-0B16-49DEADB45DF6}"/>
              </a:ext>
            </a:extLst>
          </p:cNvPr>
          <p:cNvSpPr/>
          <p:nvPr/>
        </p:nvSpPr>
        <p:spPr>
          <a:xfrm>
            <a:off x="10424160" y="-1051560"/>
            <a:ext cx="3108960" cy="3108960"/>
          </a:xfrm>
          <a:prstGeom prst="ellipse">
            <a:avLst/>
          </a:prstGeom>
          <a:noFill/>
          <a:ln w="12700">
            <a:solidFill>
              <a:srgbClr val="E1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208048D-4EFB-7EBD-5201-28AE90E6AB54}"/>
              </a:ext>
            </a:extLst>
          </p:cNvPr>
          <p:cNvSpPr/>
          <p:nvPr/>
        </p:nvSpPr>
        <p:spPr>
          <a:xfrm>
            <a:off x="10972800" y="-502920"/>
            <a:ext cx="2011680" cy="2011680"/>
          </a:xfrm>
          <a:prstGeom prst="ellipse">
            <a:avLst/>
          </a:prstGeom>
          <a:noFill/>
          <a:ln w="12700">
            <a:solidFill>
              <a:srgbClr val="EC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1793D6-E4A9-69E6-E60F-D9630FC6D5EF}"/>
              </a:ext>
            </a:extLst>
          </p:cNvPr>
          <p:cNvSpPr txBox="1"/>
          <p:nvPr/>
        </p:nvSpPr>
        <p:spPr>
          <a:xfrm>
            <a:off x="502920" y="70847"/>
            <a:ext cx="3985953" cy="559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dirty="0">
                <a:solidFill>
                  <a:srgbClr val="1F6FEB"/>
                </a:solidFill>
                <a:latin typeface="Microsoft YaHei"/>
              </a:rPr>
              <a:t>0</a:t>
            </a:r>
            <a:r>
              <a:rPr lang="en-US" sz="3200" b="1" dirty="0">
                <a:solidFill>
                  <a:srgbClr val="1F6FEB"/>
                </a:solidFill>
                <a:latin typeface="Microsoft YaHei"/>
              </a:rPr>
              <a:t>4</a:t>
            </a:r>
            <a:r>
              <a:rPr sz="3200" b="1" dirty="0">
                <a:solidFill>
                  <a:srgbClr val="1F6FEB"/>
                </a:solidFill>
                <a:latin typeface="Microsoft YaHei"/>
              </a:rPr>
              <a:t>｜创新成果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F3EA13-A76E-74CD-CE7D-758C494FDA25}"/>
              </a:ext>
            </a:extLst>
          </p:cNvPr>
          <p:cNvSpPr txBox="1"/>
          <p:nvPr/>
        </p:nvSpPr>
        <p:spPr>
          <a:xfrm>
            <a:off x="502920" y="632067"/>
            <a:ext cx="7955279" cy="37728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dirty="0" err="1">
                <a:solidFill>
                  <a:srgbClr val="141A2E"/>
                </a:solidFill>
                <a:latin typeface="Microsoft YaHei"/>
              </a:rPr>
              <a:t>预期成果</a:t>
            </a:r>
            <a:endParaRPr sz="2000" b="1" dirty="0">
              <a:solidFill>
                <a:srgbClr val="141A2E"/>
              </a:solidFill>
              <a:latin typeface="Microsoft YaHe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E9C08A-A220-2424-8CCA-AE0F47C8C032}"/>
              </a:ext>
            </a:extLst>
          </p:cNvPr>
          <p:cNvSpPr txBox="1"/>
          <p:nvPr/>
        </p:nvSpPr>
        <p:spPr>
          <a:xfrm>
            <a:off x="530352" y="1033271"/>
            <a:ext cx="978408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>
              <a:lnSpc>
                <a:spcPct val="105000"/>
              </a:lnSpc>
            </a:pPr>
            <a:r>
              <a:rPr sz="1000" b="0" dirty="0" err="1">
                <a:solidFill>
                  <a:srgbClr val="5C677D"/>
                </a:solidFill>
                <a:latin typeface="Microsoft YaHei"/>
              </a:rPr>
              <a:t>项目创新不仅在模型改进，更在于把视觉识别、大模型规划和实时控制做成可演示闭环</a:t>
            </a:r>
            <a:r>
              <a:rPr sz="1000" b="0" dirty="0">
                <a:solidFill>
                  <a:srgbClr val="5C677D"/>
                </a:solidFill>
                <a:latin typeface="Microsoft YaHei"/>
              </a:rPr>
              <a:t>。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D1EE50-8649-ECF3-DC8C-4D74FED7BB36}"/>
              </a:ext>
            </a:extLst>
          </p:cNvPr>
          <p:cNvSpPr txBox="1"/>
          <p:nvPr/>
        </p:nvSpPr>
        <p:spPr>
          <a:xfrm>
            <a:off x="11155680" y="310896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1F6FEB"/>
                </a:solidFill>
                <a:latin typeface="Microsoft YaHei"/>
              </a:rPr>
              <a:t>12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D7A5A6-C6D5-7D91-5016-C2A46B71E216}"/>
              </a:ext>
            </a:extLst>
          </p:cNvPr>
          <p:cNvSpPr/>
          <p:nvPr/>
        </p:nvSpPr>
        <p:spPr>
          <a:xfrm>
            <a:off x="502920" y="1417320"/>
            <a:ext cx="10881360" cy="16459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5DAE96CB-8D58-FE01-C5C8-32AE702428FC}"/>
              </a:ext>
            </a:extLst>
          </p:cNvPr>
          <p:cNvSpPr/>
          <p:nvPr/>
        </p:nvSpPr>
        <p:spPr>
          <a:xfrm>
            <a:off x="566927" y="1525220"/>
            <a:ext cx="2417097" cy="415226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2722436-8CB5-7D1B-6B51-8D59E2A52E85}"/>
              </a:ext>
            </a:extLst>
          </p:cNvPr>
          <p:cNvSpPr/>
          <p:nvPr/>
        </p:nvSpPr>
        <p:spPr>
          <a:xfrm>
            <a:off x="774159" y="186276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FF4324-4B1D-1C1F-68D7-7A00023D42C0}"/>
              </a:ext>
            </a:extLst>
          </p:cNvPr>
          <p:cNvSpPr txBox="1"/>
          <p:nvPr/>
        </p:nvSpPr>
        <p:spPr>
          <a:xfrm>
            <a:off x="774159" y="1981640"/>
            <a:ext cx="420624" cy="91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DFD76F-0388-E882-318C-766866DA2311}"/>
              </a:ext>
            </a:extLst>
          </p:cNvPr>
          <p:cNvSpPr txBox="1"/>
          <p:nvPr/>
        </p:nvSpPr>
        <p:spPr>
          <a:xfrm>
            <a:off x="1304511" y="1798760"/>
            <a:ext cx="82296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1">
                <a:solidFill>
                  <a:srgbClr val="141A2E"/>
                </a:solidFill>
                <a:latin typeface="Microsoft YaHei"/>
              </a:rPr>
              <a:t>论文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8117CA-0671-F57B-57A2-F576854B1718}"/>
              </a:ext>
            </a:extLst>
          </p:cNvPr>
          <p:cNvSpPr txBox="1"/>
          <p:nvPr/>
        </p:nvSpPr>
        <p:spPr>
          <a:xfrm>
            <a:off x="1304511" y="2045648"/>
            <a:ext cx="1536192" cy="32918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>
              <a:lnSpc>
                <a:spcPct val="105000"/>
              </a:lnSpc>
            </a:pPr>
            <a:r>
              <a:rPr sz="750" b="0" dirty="0" err="1">
                <a:solidFill>
                  <a:srgbClr val="5C677D"/>
                </a:solidFill>
                <a:latin typeface="Microsoft YaHei"/>
              </a:rPr>
              <a:t>围绕轻量化检测、OCR</a:t>
            </a:r>
            <a:r>
              <a:rPr sz="750" b="0" dirty="0">
                <a:solidFill>
                  <a:srgbClr val="5C677D"/>
                </a:solidFill>
                <a:latin typeface="Microsoft YaHei"/>
              </a:rPr>
              <a:t> </a:t>
            </a:r>
            <a:r>
              <a:rPr sz="750" b="0" dirty="0" err="1">
                <a:solidFill>
                  <a:srgbClr val="5C677D"/>
                </a:solidFill>
                <a:latin typeface="Microsoft YaHei"/>
              </a:rPr>
              <a:t>融合与系统实验撰写</a:t>
            </a:r>
            <a:r>
              <a:rPr sz="750" b="0" dirty="0">
                <a:solidFill>
                  <a:srgbClr val="5C677D"/>
                </a:solidFill>
                <a:latin typeface="Microsoft YaHei"/>
              </a:rPr>
              <a:t>。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C8E5102-CF40-A154-582A-4CE7F81958BF}"/>
              </a:ext>
            </a:extLst>
          </p:cNvPr>
          <p:cNvSpPr/>
          <p:nvPr/>
        </p:nvSpPr>
        <p:spPr>
          <a:xfrm>
            <a:off x="786335" y="2862126"/>
            <a:ext cx="420624" cy="420624"/>
          </a:xfrm>
          <a:prstGeom prst="ellipse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E17E2F5-1262-52DC-F4B8-8A1952CFF769}"/>
              </a:ext>
            </a:extLst>
          </p:cNvPr>
          <p:cNvSpPr txBox="1"/>
          <p:nvPr/>
        </p:nvSpPr>
        <p:spPr>
          <a:xfrm>
            <a:off x="786335" y="2980998"/>
            <a:ext cx="420624" cy="91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2D40AD-8E5D-B1E9-4E61-B5251FF3CBCC}"/>
              </a:ext>
            </a:extLst>
          </p:cNvPr>
          <p:cNvSpPr txBox="1"/>
          <p:nvPr/>
        </p:nvSpPr>
        <p:spPr>
          <a:xfrm>
            <a:off x="1328863" y="2826473"/>
            <a:ext cx="82296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1" dirty="0" err="1">
                <a:solidFill>
                  <a:srgbClr val="141A2E"/>
                </a:solidFill>
                <a:latin typeface="Microsoft YaHei"/>
              </a:rPr>
              <a:t>专利</a:t>
            </a:r>
            <a:endParaRPr sz="1080" b="1" dirty="0">
              <a:solidFill>
                <a:srgbClr val="141A2E"/>
              </a:solidFill>
              <a:latin typeface="Microsoft YaHei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61FE3B-CD84-0F75-75F9-020BFA599AEF}"/>
              </a:ext>
            </a:extLst>
          </p:cNvPr>
          <p:cNvSpPr txBox="1"/>
          <p:nvPr/>
        </p:nvSpPr>
        <p:spPr>
          <a:xfrm>
            <a:off x="1316687" y="3045006"/>
            <a:ext cx="1536192" cy="32918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>
              <a:lnSpc>
                <a:spcPct val="105000"/>
              </a:lnSpc>
            </a:pPr>
            <a:r>
              <a:rPr sz="750" b="0" dirty="0" err="1">
                <a:solidFill>
                  <a:srgbClr val="5C677D"/>
                </a:solidFill>
                <a:latin typeface="Microsoft YaHei"/>
              </a:rPr>
              <a:t>围绕硬件交互闭环与软件调度方法布局</a:t>
            </a:r>
            <a:r>
              <a:rPr sz="750" b="0" dirty="0">
                <a:solidFill>
                  <a:srgbClr val="5C677D"/>
                </a:solidFill>
                <a:latin typeface="Microsoft YaHei"/>
              </a:rPr>
              <a:t>。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3E2FCAB-5F43-6D9B-647A-FD4E3F4EBE1A}"/>
              </a:ext>
            </a:extLst>
          </p:cNvPr>
          <p:cNvSpPr/>
          <p:nvPr/>
        </p:nvSpPr>
        <p:spPr>
          <a:xfrm>
            <a:off x="774159" y="3746675"/>
            <a:ext cx="420624" cy="420624"/>
          </a:xfrm>
          <a:prstGeom prst="ellipse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E34BACF-EF9C-DA32-DAE2-E23384D46462}"/>
              </a:ext>
            </a:extLst>
          </p:cNvPr>
          <p:cNvSpPr txBox="1"/>
          <p:nvPr/>
        </p:nvSpPr>
        <p:spPr>
          <a:xfrm>
            <a:off x="774159" y="3865547"/>
            <a:ext cx="420624" cy="91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E71D5C5-2BCA-529B-A265-A04D2747F8E7}"/>
              </a:ext>
            </a:extLst>
          </p:cNvPr>
          <p:cNvSpPr txBox="1"/>
          <p:nvPr/>
        </p:nvSpPr>
        <p:spPr>
          <a:xfrm>
            <a:off x="1304511" y="3682667"/>
            <a:ext cx="82296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1">
                <a:solidFill>
                  <a:srgbClr val="141A2E"/>
                </a:solidFill>
                <a:latin typeface="Microsoft YaHei"/>
              </a:rPr>
              <a:t>样机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429D74-F1DF-F026-F67C-0AB0789C5F2B}"/>
              </a:ext>
            </a:extLst>
          </p:cNvPr>
          <p:cNvSpPr txBox="1"/>
          <p:nvPr/>
        </p:nvSpPr>
        <p:spPr>
          <a:xfrm>
            <a:off x="1304511" y="3929555"/>
            <a:ext cx="1536192" cy="32918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>
              <a:lnSpc>
                <a:spcPct val="105000"/>
              </a:lnSpc>
            </a:pPr>
            <a:r>
              <a:rPr sz="750" b="0" dirty="0" err="1">
                <a:solidFill>
                  <a:srgbClr val="5C677D"/>
                </a:solidFill>
                <a:latin typeface="Microsoft YaHei"/>
              </a:rPr>
              <a:t>完成可演示的</a:t>
            </a:r>
            <a:r>
              <a:rPr sz="750" b="0" dirty="0">
                <a:solidFill>
                  <a:srgbClr val="5C677D"/>
                </a:solidFill>
                <a:latin typeface="Microsoft YaHei"/>
              </a:rPr>
              <a:t> AI </a:t>
            </a:r>
            <a:r>
              <a:rPr sz="750" b="0" dirty="0" err="1">
                <a:solidFill>
                  <a:srgbClr val="5C677D"/>
                </a:solidFill>
                <a:latin typeface="Microsoft YaHei"/>
              </a:rPr>
              <a:t>机械臂辅学原型</a:t>
            </a:r>
            <a:r>
              <a:rPr sz="750" b="0" dirty="0">
                <a:solidFill>
                  <a:srgbClr val="5C677D"/>
                </a:solidFill>
                <a:latin typeface="Microsoft YaHei"/>
              </a:rPr>
              <a:t>。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7ADE04C-4794-9F0A-DE94-615F56A74A62}"/>
              </a:ext>
            </a:extLst>
          </p:cNvPr>
          <p:cNvSpPr/>
          <p:nvPr/>
        </p:nvSpPr>
        <p:spPr>
          <a:xfrm>
            <a:off x="774159" y="4624110"/>
            <a:ext cx="420624" cy="420624"/>
          </a:xfrm>
          <a:prstGeom prst="ellipse">
            <a:avLst/>
          </a:prstGeom>
          <a:solidFill>
            <a:srgbClr val="69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DBDC2AC-8729-DF70-B90F-059E403A7536}"/>
              </a:ext>
            </a:extLst>
          </p:cNvPr>
          <p:cNvSpPr txBox="1"/>
          <p:nvPr/>
        </p:nvSpPr>
        <p:spPr>
          <a:xfrm>
            <a:off x="774159" y="4742982"/>
            <a:ext cx="420624" cy="91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48111B-8CCF-F92C-4F1F-411879748775}"/>
              </a:ext>
            </a:extLst>
          </p:cNvPr>
          <p:cNvSpPr txBox="1"/>
          <p:nvPr/>
        </p:nvSpPr>
        <p:spPr>
          <a:xfrm>
            <a:off x="1304511" y="4560102"/>
            <a:ext cx="82296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1">
                <a:solidFill>
                  <a:srgbClr val="141A2E"/>
                </a:solidFill>
                <a:latin typeface="Microsoft YaHei"/>
              </a:rPr>
              <a:t>研究报告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E5E5EAD-0EB6-6A4A-BA07-7253B8022FDD}"/>
              </a:ext>
            </a:extLst>
          </p:cNvPr>
          <p:cNvSpPr txBox="1"/>
          <p:nvPr/>
        </p:nvSpPr>
        <p:spPr>
          <a:xfrm>
            <a:off x="1304511" y="4806990"/>
            <a:ext cx="1536192" cy="329184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77D"/>
                </a:solidFill>
                <a:latin typeface="Microsoft YaHei"/>
              </a:rPr>
              <a:t>形成实验数据、误差分析和改进记录。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15EE945A-9CA6-0880-2A80-B3D51F3ED90D}"/>
              </a:ext>
            </a:extLst>
          </p:cNvPr>
          <p:cNvSpPr/>
          <p:nvPr/>
        </p:nvSpPr>
        <p:spPr>
          <a:xfrm>
            <a:off x="713232" y="5742432"/>
            <a:ext cx="10168128" cy="310896"/>
          </a:xfrm>
          <a:prstGeom prst="roundRect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752DC8F-985D-2043-7D73-7F25893A8BB1}"/>
              </a:ext>
            </a:extLst>
          </p:cNvPr>
          <p:cNvSpPr txBox="1"/>
          <p:nvPr/>
        </p:nvSpPr>
        <p:spPr>
          <a:xfrm>
            <a:off x="731520" y="5760720"/>
            <a:ext cx="10131552" cy="283464"/>
          </a:xfrm>
          <a:prstGeom prst="rect">
            <a:avLst/>
          </a:prstGeom>
          <a:noFill/>
        </p:spPr>
        <p:txBody>
          <a:bodyPr wrap="square" lIns="9144" tIns="9144" rIns="9144" bIns="9144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sz="860" b="1">
                <a:solidFill>
                  <a:srgbClr val="1F6FEB"/>
                </a:solidFill>
                <a:latin typeface="Microsoft YaHei"/>
              </a:rPr>
              <a:t>成果逻辑：算法改进产生论文基础，系统闭环形成专利点，工程集成沉淀样机与研究报告。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4B0F363-F7B6-EF6F-9097-BCB68A3205F2}"/>
              </a:ext>
            </a:extLst>
          </p:cNvPr>
          <p:cNvSpPr/>
          <p:nvPr/>
        </p:nvSpPr>
        <p:spPr>
          <a:xfrm>
            <a:off x="502920" y="6510528"/>
            <a:ext cx="10789920" cy="10972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0784CAB-F0C7-13D5-347F-52A0B8083379}"/>
              </a:ext>
            </a:extLst>
          </p:cNvPr>
          <p:cNvSpPr txBox="1"/>
          <p:nvPr/>
        </p:nvSpPr>
        <p:spPr>
          <a:xfrm>
            <a:off x="502920" y="6565392"/>
            <a:ext cx="576072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0">
                <a:solidFill>
                  <a:srgbClr val="8A94A6"/>
                </a:solidFill>
                <a:latin typeface="Microsoft YaHei"/>
              </a:rPr>
              <a:t>基于瑞萨 RA6M5 的多模态 AI 机械臂辅学系统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E41E162-35C5-F8DD-F02A-ACAFB19E4B46}"/>
              </a:ext>
            </a:extLst>
          </p:cNvPr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700" b="1">
                <a:solidFill>
                  <a:srgbClr val="8A94A6"/>
                </a:solidFill>
                <a:latin typeface="Microsoft YaHei"/>
              </a:rPr>
              <a:t>12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C5EA82FA-3AF9-9C21-BF5C-35C922094DA5}"/>
              </a:ext>
            </a:extLst>
          </p:cNvPr>
          <p:cNvSpPr txBox="1"/>
          <p:nvPr/>
        </p:nvSpPr>
        <p:spPr>
          <a:xfrm>
            <a:off x="3121891" y="1798760"/>
            <a:ext cx="5246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+mn-ea"/>
              </a:rPr>
              <a:t>- </a:t>
            </a:r>
            <a:r>
              <a:rPr lang="zh-CN" altLang="en-US" dirty="0">
                <a:latin typeface="+mn-ea"/>
              </a:rPr>
              <a:t>改进 </a:t>
            </a:r>
            <a:r>
              <a:rPr lang="en-US" altLang="zh-CN" dirty="0">
                <a:latin typeface="+mn-ea"/>
              </a:rPr>
              <a:t>YOLO11 </a:t>
            </a:r>
            <a:r>
              <a:rPr lang="zh-CN" altLang="en-US" dirty="0">
                <a:latin typeface="+mn-ea"/>
              </a:rPr>
              <a:t>小目标头和 </a:t>
            </a:r>
            <a:r>
              <a:rPr lang="en-US" altLang="zh-CN" dirty="0">
                <a:latin typeface="+mn-ea"/>
              </a:rPr>
              <a:t>CBAM </a:t>
            </a:r>
            <a:r>
              <a:rPr lang="zh-CN" altLang="en-US" dirty="0">
                <a:latin typeface="+mn-ea"/>
              </a:rPr>
              <a:t>注意力算法；</a:t>
            </a:r>
          </a:p>
          <a:p>
            <a:r>
              <a:rPr lang="en-US" altLang="zh-CN" dirty="0">
                <a:latin typeface="+mn-ea"/>
              </a:rPr>
              <a:t>- YOLO11 </a:t>
            </a:r>
            <a:r>
              <a:rPr lang="zh-CN" altLang="en-US" dirty="0">
                <a:latin typeface="+mn-ea"/>
              </a:rPr>
              <a:t>文字区域检测与 </a:t>
            </a:r>
            <a:r>
              <a:rPr lang="en-US" altLang="zh-CN" dirty="0">
                <a:latin typeface="+mn-ea"/>
              </a:rPr>
              <a:t>OCR </a:t>
            </a:r>
            <a:r>
              <a:rPr lang="zh-CN" altLang="en-US" dirty="0">
                <a:latin typeface="+mn-ea"/>
              </a:rPr>
              <a:t>融合；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25AA3A8-861F-AA76-CAFF-F860AB853754}"/>
              </a:ext>
            </a:extLst>
          </p:cNvPr>
          <p:cNvSpPr txBox="1"/>
          <p:nvPr/>
        </p:nvSpPr>
        <p:spPr>
          <a:xfrm>
            <a:off x="3121891" y="2862126"/>
            <a:ext cx="46643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算法、硬件、软件相互配合形状一套自洽的系统。同时进行实地测试，给有需求的家长试用，得到反馈报告后进一步对产品进行封装，最后形成产品化的专利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9545811-660F-16C0-A10A-D60F1ADE3B6B}"/>
              </a:ext>
            </a:extLst>
          </p:cNvPr>
          <p:cNvSpPr txBox="1"/>
          <p:nvPr/>
        </p:nvSpPr>
        <p:spPr>
          <a:xfrm>
            <a:off x="3157889" y="4284017"/>
            <a:ext cx="43872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在开发过程中记录实验的真实数据，如算法参数量、精度、机械臂轨迹、识别成功率等，最后统计并做误差分析和消融实验形成研究报告</a:t>
            </a:r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3D9C5417-E176-5F27-4520-FBE8763B6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2848" y="2465998"/>
            <a:ext cx="4516025" cy="298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698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11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5029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424160" y="-1051560"/>
            <a:ext cx="3108960" cy="3108960"/>
          </a:xfrm>
          <a:prstGeom prst="ellipse">
            <a:avLst/>
          </a:prstGeom>
          <a:noFill/>
          <a:ln w="12700">
            <a:solidFill>
              <a:srgbClr val="E1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0" y="-502920"/>
            <a:ext cx="2011680" cy="2011680"/>
          </a:xfrm>
          <a:prstGeom prst="ellipse">
            <a:avLst/>
          </a:prstGeom>
          <a:noFill/>
          <a:ln w="12700">
            <a:solidFill>
              <a:srgbClr val="EC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9385" y="89135"/>
            <a:ext cx="4142971" cy="559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dirty="0">
                <a:solidFill>
                  <a:srgbClr val="1F6FEB"/>
                </a:solidFill>
                <a:latin typeface="Microsoft YaHei"/>
              </a:rPr>
              <a:t>0</a:t>
            </a:r>
            <a:r>
              <a:rPr lang="en-US" sz="3200" b="1" dirty="0">
                <a:solidFill>
                  <a:srgbClr val="1F6FEB"/>
                </a:solidFill>
                <a:latin typeface="Microsoft YaHei"/>
              </a:rPr>
              <a:t>5</a:t>
            </a:r>
            <a:r>
              <a:rPr sz="3200" b="1" dirty="0">
                <a:solidFill>
                  <a:srgbClr val="1F6FEB"/>
                </a:solidFill>
                <a:latin typeface="Microsoft YaHei"/>
              </a:rPr>
              <a:t>｜计划保障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9872" y="603503"/>
            <a:ext cx="7955279" cy="37728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dirty="0" err="1">
                <a:solidFill>
                  <a:srgbClr val="141A2E"/>
                </a:solidFill>
                <a:latin typeface="Microsoft YaHei"/>
              </a:rPr>
              <a:t>研究计划、经费安排与风险控制</a:t>
            </a:r>
            <a:endParaRPr sz="2000" b="1" dirty="0">
              <a:solidFill>
                <a:srgbClr val="141A2E"/>
              </a:solidFill>
              <a:latin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" y="1033271"/>
            <a:ext cx="978408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C677D"/>
                </a:solidFill>
                <a:latin typeface="Microsoft YaHei"/>
              </a:rPr>
              <a:t>按一年期推进，从方案设计、系统开发到联调验证和成果总结形成闭环管理。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310896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1F6FEB"/>
                </a:solidFill>
                <a:latin typeface="Microsoft YaHei"/>
              </a:rPr>
              <a:t>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10881360" cy="16459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719072"/>
            <a:ext cx="6446520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1938528"/>
            <a:ext cx="2011680" cy="23774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41A2E"/>
                </a:solidFill>
                <a:latin typeface="Microsoft YaHei"/>
              </a:rPr>
              <a:t>12 个月研究节点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304288"/>
            <a:ext cx="228600" cy="1097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650" b="0">
                <a:solidFill>
                  <a:srgbClr val="8A94A6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9152" y="2304288"/>
            <a:ext cx="228600" cy="1097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650" b="0">
                <a:solidFill>
                  <a:srgbClr val="8A94A6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2344" y="2304288"/>
            <a:ext cx="228600" cy="1097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650" b="0">
                <a:solidFill>
                  <a:srgbClr val="8A94A6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5536" y="2304288"/>
            <a:ext cx="228600" cy="1097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650" b="0">
                <a:solidFill>
                  <a:srgbClr val="8A94A6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2304288"/>
            <a:ext cx="228600" cy="1097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650" b="0">
                <a:solidFill>
                  <a:srgbClr val="8A94A6"/>
                </a:solidFill>
                <a:latin typeface="Microsoft YaHe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304288"/>
            <a:ext cx="228600" cy="1097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650" b="0">
                <a:solidFill>
                  <a:srgbClr val="8A94A6"/>
                </a:solidFill>
                <a:latin typeface="Microsoft YaHe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2304288"/>
            <a:ext cx="228600" cy="1097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650" b="0">
                <a:solidFill>
                  <a:srgbClr val="8A94A6"/>
                </a:solidFill>
                <a:latin typeface="Microsoft YaHei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8304" y="2304288"/>
            <a:ext cx="228600" cy="1097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650" b="0">
                <a:solidFill>
                  <a:srgbClr val="8A94A6"/>
                </a:solidFill>
                <a:latin typeface="Microsoft YaHei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11496" y="2304288"/>
            <a:ext cx="228600" cy="1097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650" b="0">
                <a:solidFill>
                  <a:srgbClr val="8A94A6"/>
                </a:solidFill>
                <a:latin typeface="Microsoft YaHei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4688" y="2304288"/>
            <a:ext cx="228600" cy="1097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650" b="0">
                <a:solidFill>
                  <a:srgbClr val="8A94A6"/>
                </a:solidFill>
                <a:latin typeface="Microsoft YaHei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79" y="2304288"/>
            <a:ext cx="228600" cy="1097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650" b="0">
                <a:solidFill>
                  <a:srgbClr val="8A94A6"/>
                </a:solidFill>
                <a:latin typeface="Microsoft YaHei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1" y="2304288"/>
            <a:ext cx="228600" cy="1097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650" b="0">
                <a:solidFill>
                  <a:srgbClr val="8A94A6"/>
                </a:solidFill>
                <a:latin typeface="Microsoft YaHei"/>
              </a:rP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2523744"/>
            <a:ext cx="914400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670" b="1" dirty="0" err="1">
                <a:solidFill>
                  <a:srgbClr val="141A2E"/>
                </a:solidFill>
                <a:latin typeface="Microsoft YaHei"/>
              </a:rPr>
              <a:t>调研与方案</a:t>
            </a:r>
            <a:endParaRPr sz="670" b="1" dirty="0">
              <a:solidFill>
                <a:srgbClr val="141A2E"/>
              </a:solidFill>
              <a:latin typeface="Microsoft YaHe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965960" y="2542032"/>
            <a:ext cx="393192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" y="2724912"/>
            <a:ext cx="914400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670" b="1">
                <a:solidFill>
                  <a:srgbClr val="141A2E"/>
                </a:solidFill>
                <a:latin typeface="Microsoft YaHei"/>
              </a:rPr>
              <a:t>开题设计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59152" y="2743200"/>
            <a:ext cx="393192" cy="109728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2688" y="2926079"/>
            <a:ext cx="914400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670" b="1">
                <a:solidFill>
                  <a:srgbClr val="141A2E"/>
                </a:solidFill>
                <a:latin typeface="Microsoft YaHei"/>
              </a:rPr>
              <a:t>系统开发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52344" y="2944368"/>
            <a:ext cx="1179576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2688" y="3127248"/>
            <a:ext cx="914400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670" b="1">
                <a:solidFill>
                  <a:srgbClr val="141A2E"/>
                </a:solidFill>
                <a:latin typeface="Microsoft YaHei"/>
              </a:rPr>
              <a:t>联调验证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31920" y="3145536"/>
            <a:ext cx="786384" cy="109728"/>
          </a:xfrm>
          <a:prstGeom prst="rect">
            <a:avLst/>
          </a:prstGeom>
          <a:solidFill>
            <a:srgbClr val="29B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2688" y="3328415"/>
            <a:ext cx="914400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670" b="1">
                <a:solidFill>
                  <a:srgbClr val="141A2E"/>
                </a:solidFill>
                <a:latin typeface="Microsoft YaHei"/>
              </a:rPr>
              <a:t>数据分析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18304" y="3346703"/>
            <a:ext cx="393192" cy="109728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2688" y="3529584"/>
            <a:ext cx="914400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670" b="1">
                <a:solidFill>
                  <a:srgbClr val="141A2E"/>
                </a:solidFill>
                <a:latin typeface="Microsoft YaHei"/>
              </a:rPr>
              <a:t>优化展示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11496" y="3547872"/>
            <a:ext cx="393192" cy="109728"/>
          </a:xfrm>
          <a:prstGeom prst="rect">
            <a:avLst/>
          </a:prstGeom>
          <a:solidFill>
            <a:srgbClr val="69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32688" y="3730752"/>
            <a:ext cx="914400" cy="14630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670" b="1">
                <a:solidFill>
                  <a:srgbClr val="141A2E"/>
                </a:solidFill>
                <a:latin typeface="Microsoft YaHei"/>
              </a:rPr>
              <a:t>总结答辩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04688" y="3749039"/>
            <a:ext cx="786384" cy="109728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242048" y="1657235"/>
            <a:ext cx="4590288" cy="261280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658368" y="4617720"/>
            <a:ext cx="10222992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4400" y="4828032"/>
            <a:ext cx="1234440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41A2E"/>
                </a:solidFill>
                <a:latin typeface="Microsoft YaHei"/>
              </a:rPr>
              <a:t>风险控制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57400" y="5212080"/>
            <a:ext cx="2286000" cy="274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057400" y="5358384"/>
            <a:ext cx="9144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141A2E"/>
                </a:solidFill>
                <a:latin typeface="Microsoft YaHei"/>
              </a:rPr>
              <a:t>识别不稳定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5550408"/>
            <a:ext cx="201168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>
              <a:lnSpc>
                <a:spcPct val="105000"/>
              </a:lnSpc>
            </a:pPr>
            <a:r>
              <a:rPr sz="680" b="0">
                <a:solidFill>
                  <a:srgbClr val="5C677D"/>
                </a:solidFill>
                <a:latin typeface="Microsoft YaHei"/>
              </a:rPr>
              <a:t>补充数据集、误检样本回收、阈值调优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892040" y="5212080"/>
            <a:ext cx="2286000" cy="27432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892040" y="5358384"/>
            <a:ext cx="9144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141A2E"/>
                </a:solidFill>
                <a:latin typeface="Microsoft YaHei"/>
              </a:rPr>
              <a:t>机械误差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92040" y="5550408"/>
            <a:ext cx="201168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>
              <a:lnSpc>
                <a:spcPct val="105000"/>
              </a:lnSpc>
            </a:pPr>
            <a:r>
              <a:rPr sz="680" b="0">
                <a:solidFill>
                  <a:srgbClr val="5C677D"/>
                </a:solidFill>
                <a:latin typeface="Microsoft YaHei"/>
              </a:rPr>
              <a:t>重复标定、限位保护、末端误差记录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26679" y="5212080"/>
            <a:ext cx="2286000" cy="27432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726679" y="5358384"/>
            <a:ext cx="9144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141A2E"/>
                </a:solidFill>
                <a:latin typeface="Microsoft YaHei"/>
              </a:rPr>
              <a:t>联调复杂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26679" y="5550408"/>
            <a:ext cx="201168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>
              <a:lnSpc>
                <a:spcPct val="105000"/>
              </a:lnSpc>
            </a:pPr>
            <a:r>
              <a:rPr sz="680" b="0">
                <a:solidFill>
                  <a:srgbClr val="5C677D"/>
                </a:solidFill>
                <a:latin typeface="Microsoft YaHei"/>
              </a:rPr>
              <a:t>模块化接口、分阶段验收、保留降级演示方案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" y="6510528"/>
            <a:ext cx="10789920" cy="10972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02920" y="6565392"/>
            <a:ext cx="576072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680" b="0">
                <a:solidFill>
                  <a:srgbClr val="8A94A6"/>
                </a:solidFill>
                <a:latin typeface="Microsoft YaHei"/>
              </a:rPr>
              <a:t>基于瑞萨 RA6M5 的多模态 AI 机械臂辅学系统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lnSpc>
                <a:spcPct val="105000"/>
              </a:lnSpc>
            </a:pPr>
            <a:r>
              <a:rPr sz="700" b="1">
                <a:solidFill>
                  <a:srgbClr val="8A94A6"/>
                </a:solidFill>
                <a:latin typeface="Microsoft YaHei"/>
              </a:rPr>
              <a:t>13</a:t>
            </a:r>
          </a:p>
        </p:txBody>
      </p:sp>
      <p:sp>
        <p:nvSpPr>
          <p:cNvPr id="98" name="TextBox 52">
            <a:extLst>
              <a:ext uri="{FF2B5EF4-FFF2-40B4-BE49-F238E27FC236}">
                <a16:creationId xmlns:a16="http://schemas.microsoft.com/office/drawing/2014/main" id="{A11D1597-253D-56A0-3927-024686CC8EBD}"/>
              </a:ext>
            </a:extLst>
          </p:cNvPr>
          <p:cNvSpPr txBox="1"/>
          <p:nvPr/>
        </p:nvSpPr>
        <p:spPr>
          <a:xfrm>
            <a:off x="7473391" y="1751400"/>
            <a:ext cx="2926080" cy="3840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0C142A"/>
                </a:solidFill>
                <a:latin typeface="Microsoft YaHei"/>
              </a:rPr>
              <a:t>经费使用方向</a:t>
            </a:r>
          </a:p>
        </p:txBody>
      </p:sp>
      <p:sp>
        <p:nvSpPr>
          <p:cNvPr id="100" name="TextBox 54">
            <a:extLst>
              <a:ext uri="{FF2B5EF4-FFF2-40B4-BE49-F238E27FC236}">
                <a16:creationId xmlns:a16="http://schemas.microsoft.com/office/drawing/2014/main" id="{C58D89B3-BABC-6589-80EE-AA7A512456CE}"/>
              </a:ext>
            </a:extLst>
          </p:cNvPr>
          <p:cNvSpPr txBox="1"/>
          <p:nvPr/>
        </p:nvSpPr>
        <p:spPr>
          <a:xfrm>
            <a:off x="7701991" y="2281752"/>
            <a:ext cx="1143000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 dirty="0" err="1">
                <a:solidFill>
                  <a:srgbClr val="0C142A"/>
                </a:solidFill>
                <a:latin typeface="Microsoft YaHei"/>
              </a:rPr>
              <a:t>硬件与备件</a:t>
            </a:r>
            <a:endParaRPr sz="1400" b="1" dirty="0">
              <a:solidFill>
                <a:srgbClr val="0C142A"/>
              </a:solidFill>
              <a:latin typeface="Microsoft YaHei"/>
            </a:endParaRPr>
          </a:p>
        </p:txBody>
      </p:sp>
      <p:sp>
        <p:nvSpPr>
          <p:cNvPr id="101" name="TextBox 55">
            <a:extLst>
              <a:ext uri="{FF2B5EF4-FFF2-40B4-BE49-F238E27FC236}">
                <a16:creationId xmlns:a16="http://schemas.microsoft.com/office/drawing/2014/main" id="{23AB78BC-367A-10AF-1D66-7428581B7EFF}"/>
              </a:ext>
            </a:extLst>
          </p:cNvPr>
          <p:cNvSpPr txBox="1"/>
          <p:nvPr/>
        </p:nvSpPr>
        <p:spPr>
          <a:xfrm>
            <a:off x="7701991" y="2482920"/>
            <a:ext cx="1691640" cy="1463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0" dirty="0" err="1">
                <a:solidFill>
                  <a:srgbClr val="5C7090"/>
                </a:solidFill>
                <a:latin typeface="Microsoft YaHei"/>
              </a:rPr>
              <a:t>机械臂、传感器、结构件</a:t>
            </a:r>
            <a:endParaRPr sz="1100" b="0" dirty="0">
              <a:solidFill>
                <a:srgbClr val="5C7090"/>
              </a:solidFill>
              <a:latin typeface="Microsoft YaHei"/>
            </a:endParaRPr>
          </a:p>
        </p:txBody>
      </p:sp>
      <p:sp>
        <p:nvSpPr>
          <p:cNvPr id="102" name="Rounded Rectangle 56">
            <a:extLst>
              <a:ext uri="{FF2B5EF4-FFF2-40B4-BE49-F238E27FC236}">
                <a16:creationId xmlns:a16="http://schemas.microsoft.com/office/drawing/2014/main" id="{29DCA062-8AE1-81F6-38DD-1F564C93FBE1}"/>
              </a:ext>
            </a:extLst>
          </p:cNvPr>
          <p:cNvSpPr/>
          <p:nvPr/>
        </p:nvSpPr>
        <p:spPr>
          <a:xfrm>
            <a:off x="9000439" y="2327471"/>
            <a:ext cx="1901952" cy="118872"/>
          </a:xfrm>
          <a:prstGeom prst="roundRect">
            <a:avLst>
              <a:gd name="adj" fmla="val 25000"/>
            </a:avLst>
          </a:prstGeom>
          <a:solidFill>
            <a:srgbClr val="E4E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3" name="Rounded Rectangle 57">
            <a:extLst>
              <a:ext uri="{FF2B5EF4-FFF2-40B4-BE49-F238E27FC236}">
                <a16:creationId xmlns:a16="http://schemas.microsoft.com/office/drawing/2014/main" id="{A06FD702-2352-34FF-105B-5584A188DEB1}"/>
              </a:ext>
            </a:extLst>
          </p:cNvPr>
          <p:cNvSpPr/>
          <p:nvPr/>
        </p:nvSpPr>
        <p:spPr>
          <a:xfrm>
            <a:off x="9005011" y="2368619"/>
            <a:ext cx="1863912" cy="118872"/>
          </a:xfrm>
          <a:prstGeom prst="roundRect">
            <a:avLst/>
          </a:prstGeom>
          <a:solidFill>
            <a:srgbClr val="788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4" name="Rounded Rectangle 58">
            <a:extLst>
              <a:ext uri="{FF2B5EF4-FFF2-40B4-BE49-F238E27FC236}">
                <a16:creationId xmlns:a16="http://schemas.microsoft.com/office/drawing/2014/main" id="{3D8B5C87-C3CB-6DD5-5C34-E3F04B850355}"/>
              </a:ext>
            </a:extLst>
          </p:cNvPr>
          <p:cNvSpPr/>
          <p:nvPr/>
        </p:nvSpPr>
        <p:spPr>
          <a:xfrm>
            <a:off x="9000439" y="2327471"/>
            <a:ext cx="1863912" cy="118872"/>
          </a:xfrm>
          <a:prstGeom prst="roundRect">
            <a:avLst>
              <a:gd name="adj" fmla="val 25000"/>
            </a:avLst>
          </a:prstGeom>
          <a:solidFill>
            <a:srgbClr val="256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5" name="TextBox 59">
            <a:extLst>
              <a:ext uri="{FF2B5EF4-FFF2-40B4-BE49-F238E27FC236}">
                <a16:creationId xmlns:a16="http://schemas.microsoft.com/office/drawing/2014/main" id="{77E792FE-CCE8-0799-E159-F02F1C050F5E}"/>
              </a:ext>
            </a:extLst>
          </p:cNvPr>
          <p:cNvSpPr txBox="1"/>
          <p:nvPr/>
        </p:nvSpPr>
        <p:spPr>
          <a:xfrm>
            <a:off x="10938967" y="2281752"/>
            <a:ext cx="475488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640" b="1">
                <a:solidFill>
                  <a:srgbClr val="5C7090"/>
                </a:solidFill>
                <a:latin typeface="Microsoft YaHei"/>
              </a:rPr>
              <a:t>¥8,500</a:t>
            </a:r>
          </a:p>
        </p:txBody>
      </p:sp>
      <p:sp>
        <p:nvSpPr>
          <p:cNvPr id="106" name="TextBox 60">
            <a:extLst>
              <a:ext uri="{FF2B5EF4-FFF2-40B4-BE49-F238E27FC236}">
                <a16:creationId xmlns:a16="http://schemas.microsoft.com/office/drawing/2014/main" id="{A8EE4D39-0CB9-EAF7-4D2E-D5EE6CB33223}"/>
              </a:ext>
            </a:extLst>
          </p:cNvPr>
          <p:cNvSpPr txBox="1"/>
          <p:nvPr/>
        </p:nvSpPr>
        <p:spPr>
          <a:xfrm>
            <a:off x="7701991" y="2775528"/>
            <a:ext cx="1143000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 dirty="0" err="1">
                <a:solidFill>
                  <a:srgbClr val="0C142A"/>
                </a:solidFill>
                <a:latin typeface="Microsoft YaHei"/>
              </a:rPr>
              <a:t>加工与耗材</a:t>
            </a:r>
            <a:endParaRPr sz="1400" b="1" dirty="0">
              <a:solidFill>
                <a:srgbClr val="0C142A"/>
              </a:solidFill>
              <a:latin typeface="Microsoft YaHei"/>
            </a:endParaRPr>
          </a:p>
        </p:txBody>
      </p:sp>
      <p:sp>
        <p:nvSpPr>
          <p:cNvPr id="107" name="TextBox 61">
            <a:extLst>
              <a:ext uri="{FF2B5EF4-FFF2-40B4-BE49-F238E27FC236}">
                <a16:creationId xmlns:a16="http://schemas.microsoft.com/office/drawing/2014/main" id="{61D538EA-7C12-7B87-01D9-35856C8A83CF}"/>
              </a:ext>
            </a:extLst>
          </p:cNvPr>
          <p:cNvSpPr txBox="1"/>
          <p:nvPr/>
        </p:nvSpPr>
        <p:spPr>
          <a:xfrm>
            <a:off x="7701991" y="2976696"/>
            <a:ext cx="1691640" cy="1463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0" dirty="0" err="1">
                <a:solidFill>
                  <a:srgbClr val="5C7090"/>
                </a:solidFill>
                <a:latin typeface="Microsoft YaHei"/>
              </a:rPr>
              <a:t>固定件、线材、展示材料</a:t>
            </a:r>
            <a:endParaRPr sz="1100" b="0" dirty="0">
              <a:solidFill>
                <a:srgbClr val="5C7090"/>
              </a:solidFill>
              <a:latin typeface="Microsoft YaHei"/>
            </a:endParaRPr>
          </a:p>
        </p:txBody>
      </p:sp>
      <p:sp>
        <p:nvSpPr>
          <p:cNvPr id="108" name="Rounded Rectangle 62">
            <a:extLst>
              <a:ext uri="{FF2B5EF4-FFF2-40B4-BE49-F238E27FC236}">
                <a16:creationId xmlns:a16="http://schemas.microsoft.com/office/drawing/2014/main" id="{BD3FC725-A82E-0E7C-3FDA-4D95B8F6D162}"/>
              </a:ext>
            </a:extLst>
          </p:cNvPr>
          <p:cNvSpPr/>
          <p:nvPr/>
        </p:nvSpPr>
        <p:spPr>
          <a:xfrm>
            <a:off x="9000439" y="2821247"/>
            <a:ext cx="1901952" cy="118872"/>
          </a:xfrm>
          <a:prstGeom prst="roundRect">
            <a:avLst>
              <a:gd name="adj" fmla="val 25000"/>
            </a:avLst>
          </a:prstGeom>
          <a:solidFill>
            <a:srgbClr val="E4E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9" name="Rounded Rectangle 63">
            <a:extLst>
              <a:ext uri="{FF2B5EF4-FFF2-40B4-BE49-F238E27FC236}">
                <a16:creationId xmlns:a16="http://schemas.microsoft.com/office/drawing/2014/main" id="{B7ADF7D1-5AF7-4120-B55E-E8803C77571F}"/>
              </a:ext>
            </a:extLst>
          </p:cNvPr>
          <p:cNvSpPr/>
          <p:nvPr/>
        </p:nvSpPr>
        <p:spPr>
          <a:xfrm>
            <a:off x="9005011" y="2862395"/>
            <a:ext cx="1096419" cy="118872"/>
          </a:xfrm>
          <a:prstGeom prst="roundRect">
            <a:avLst/>
          </a:prstGeom>
          <a:solidFill>
            <a:srgbClr val="788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0" name="Rounded Rectangle 64">
            <a:extLst>
              <a:ext uri="{FF2B5EF4-FFF2-40B4-BE49-F238E27FC236}">
                <a16:creationId xmlns:a16="http://schemas.microsoft.com/office/drawing/2014/main" id="{A5B3488B-0304-4493-586D-B51C3F74A406}"/>
              </a:ext>
            </a:extLst>
          </p:cNvPr>
          <p:cNvSpPr/>
          <p:nvPr/>
        </p:nvSpPr>
        <p:spPr>
          <a:xfrm>
            <a:off x="9000439" y="2821247"/>
            <a:ext cx="1096419" cy="118872"/>
          </a:xfrm>
          <a:prstGeom prst="roundRect">
            <a:avLst>
              <a:gd name="adj" fmla="val 25000"/>
            </a:avLst>
          </a:prstGeom>
          <a:solidFill>
            <a:srgbClr val="22C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1" name="TextBox 65">
            <a:extLst>
              <a:ext uri="{FF2B5EF4-FFF2-40B4-BE49-F238E27FC236}">
                <a16:creationId xmlns:a16="http://schemas.microsoft.com/office/drawing/2014/main" id="{F5FF665A-222F-00C8-C872-C26188264EA3}"/>
              </a:ext>
            </a:extLst>
          </p:cNvPr>
          <p:cNvSpPr txBox="1"/>
          <p:nvPr/>
        </p:nvSpPr>
        <p:spPr>
          <a:xfrm>
            <a:off x="10938967" y="2775528"/>
            <a:ext cx="475488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640" b="1">
                <a:solidFill>
                  <a:srgbClr val="5C7090"/>
                </a:solidFill>
                <a:latin typeface="Microsoft YaHei"/>
              </a:rPr>
              <a:t>¥5,000</a:t>
            </a:r>
          </a:p>
        </p:txBody>
      </p:sp>
      <p:sp>
        <p:nvSpPr>
          <p:cNvPr id="112" name="TextBox 66">
            <a:extLst>
              <a:ext uri="{FF2B5EF4-FFF2-40B4-BE49-F238E27FC236}">
                <a16:creationId xmlns:a16="http://schemas.microsoft.com/office/drawing/2014/main" id="{9BAE6E42-72D3-63C3-DD73-4A0F0F5F42C1}"/>
              </a:ext>
            </a:extLst>
          </p:cNvPr>
          <p:cNvSpPr txBox="1"/>
          <p:nvPr/>
        </p:nvSpPr>
        <p:spPr>
          <a:xfrm>
            <a:off x="7701991" y="3269303"/>
            <a:ext cx="1143000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 dirty="0" err="1">
                <a:solidFill>
                  <a:srgbClr val="0C142A"/>
                </a:solidFill>
                <a:latin typeface="Microsoft YaHei"/>
              </a:rPr>
              <a:t>测试与云端</a:t>
            </a:r>
            <a:endParaRPr sz="1400" b="1" dirty="0">
              <a:solidFill>
                <a:srgbClr val="0C142A"/>
              </a:solidFill>
              <a:latin typeface="Microsoft YaHei"/>
            </a:endParaRPr>
          </a:p>
        </p:txBody>
      </p:sp>
      <p:sp>
        <p:nvSpPr>
          <p:cNvPr id="113" name="TextBox 67">
            <a:extLst>
              <a:ext uri="{FF2B5EF4-FFF2-40B4-BE49-F238E27FC236}">
                <a16:creationId xmlns:a16="http://schemas.microsoft.com/office/drawing/2014/main" id="{DBADA185-5693-ACD0-5F0E-831151531634}"/>
              </a:ext>
            </a:extLst>
          </p:cNvPr>
          <p:cNvSpPr txBox="1"/>
          <p:nvPr/>
        </p:nvSpPr>
        <p:spPr>
          <a:xfrm>
            <a:off x="7701991" y="3470471"/>
            <a:ext cx="1691640" cy="1463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0" dirty="0" err="1">
                <a:solidFill>
                  <a:srgbClr val="5C7090"/>
                </a:solidFill>
                <a:latin typeface="Microsoft YaHei"/>
              </a:rPr>
              <a:t>模型调用、数据存储、调试</a:t>
            </a:r>
            <a:endParaRPr sz="1100" b="0" dirty="0">
              <a:solidFill>
                <a:srgbClr val="5C7090"/>
              </a:solidFill>
              <a:latin typeface="Microsoft YaHei"/>
            </a:endParaRPr>
          </a:p>
        </p:txBody>
      </p:sp>
      <p:sp>
        <p:nvSpPr>
          <p:cNvPr id="114" name="Rounded Rectangle 68">
            <a:extLst>
              <a:ext uri="{FF2B5EF4-FFF2-40B4-BE49-F238E27FC236}">
                <a16:creationId xmlns:a16="http://schemas.microsoft.com/office/drawing/2014/main" id="{7C413A2A-ADF3-9EFA-F036-F6A3E219AF61}"/>
              </a:ext>
            </a:extLst>
          </p:cNvPr>
          <p:cNvSpPr/>
          <p:nvPr/>
        </p:nvSpPr>
        <p:spPr>
          <a:xfrm>
            <a:off x="9000439" y="3315023"/>
            <a:ext cx="1901952" cy="118872"/>
          </a:xfrm>
          <a:prstGeom prst="roundRect">
            <a:avLst>
              <a:gd name="adj" fmla="val 25000"/>
            </a:avLst>
          </a:prstGeom>
          <a:solidFill>
            <a:srgbClr val="E4E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5" name="Rounded Rectangle 69">
            <a:extLst>
              <a:ext uri="{FF2B5EF4-FFF2-40B4-BE49-F238E27FC236}">
                <a16:creationId xmlns:a16="http://schemas.microsoft.com/office/drawing/2014/main" id="{C3B6EE4D-402D-3205-B5B9-959AAEE5271E}"/>
              </a:ext>
            </a:extLst>
          </p:cNvPr>
          <p:cNvSpPr/>
          <p:nvPr/>
        </p:nvSpPr>
        <p:spPr>
          <a:xfrm>
            <a:off x="9005011" y="3356171"/>
            <a:ext cx="767493" cy="118872"/>
          </a:xfrm>
          <a:prstGeom prst="roundRect">
            <a:avLst/>
          </a:prstGeom>
          <a:solidFill>
            <a:srgbClr val="788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6" name="Rounded Rectangle 70">
            <a:extLst>
              <a:ext uri="{FF2B5EF4-FFF2-40B4-BE49-F238E27FC236}">
                <a16:creationId xmlns:a16="http://schemas.microsoft.com/office/drawing/2014/main" id="{C381C5EB-4088-7FEB-798E-D4FD32FAD72F}"/>
              </a:ext>
            </a:extLst>
          </p:cNvPr>
          <p:cNvSpPr/>
          <p:nvPr/>
        </p:nvSpPr>
        <p:spPr>
          <a:xfrm>
            <a:off x="9000439" y="3315023"/>
            <a:ext cx="767493" cy="118872"/>
          </a:xfrm>
          <a:prstGeom prst="roundRect">
            <a:avLst>
              <a:gd name="adj" fmla="val 25000"/>
            </a:avLst>
          </a:prstGeom>
          <a:solidFill>
            <a:srgbClr val="FFA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7" name="TextBox 71">
            <a:extLst>
              <a:ext uri="{FF2B5EF4-FFF2-40B4-BE49-F238E27FC236}">
                <a16:creationId xmlns:a16="http://schemas.microsoft.com/office/drawing/2014/main" id="{012B6522-7206-5F22-7FDD-10B7F2A2C35F}"/>
              </a:ext>
            </a:extLst>
          </p:cNvPr>
          <p:cNvSpPr txBox="1"/>
          <p:nvPr/>
        </p:nvSpPr>
        <p:spPr>
          <a:xfrm>
            <a:off x="10938967" y="3269303"/>
            <a:ext cx="475488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640" b="1">
                <a:solidFill>
                  <a:srgbClr val="5C7090"/>
                </a:solidFill>
                <a:latin typeface="Microsoft YaHei"/>
              </a:rPr>
              <a:t>¥3,500</a:t>
            </a:r>
          </a:p>
        </p:txBody>
      </p:sp>
      <p:sp>
        <p:nvSpPr>
          <p:cNvPr id="118" name="TextBox 72">
            <a:extLst>
              <a:ext uri="{FF2B5EF4-FFF2-40B4-BE49-F238E27FC236}">
                <a16:creationId xmlns:a16="http://schemas.microsoft.com/office/drawing/2014/main" id="{6DADF914-C462-4C21-D650-1BC5F4EF6B68}"/>
              </a:ext>
            </a:extLst>
          </p:cNvPr>
          <p:cNvSpPr txBox="1"/>
          <p:nvPr/>
        </p:nvSpPr>
        <p:spPr>
          <a:xfrm>
            <a:off x="7701991" y="3763080"/>
            <a:ext cx="1143000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 dirty="0" err="1">
                <a:solidFill>
                  <a:srgbClr val="0C142A"/>
                </a:solidFill>
                <a:latin typeface="Microsoft YaHei"/>
              </a:rPr>
              <a:t>成果材料</a:t>
            </a:r>
            <a:endParaRPr sz="1400" b="1" dirty="0">
              <a:solidFill>
                <a:srgbClr val="0C142A"/>
              </a:solidFill>
              <a:latin typeface="Microsoft YaHei"/>
            </a:endParaRPr>
          </a:p>
        </p:txBody>
      </p:sp>
      <p:sp>
        <p:nvSpPr>
          <p:cNvPr id="119" name="TextBox 73">
            <a:extLst>
              <a:ext uri="{FF2B5EF4-FFF2-40B4-BE49-F238E27FC236}">
                <a16:creationId xmlns:a16="http://schemas.microsoft.com/office/drawing/2014/main" id="{76C22265-0E42-FD69-2017-B5E5FA068FDD}"/>
              </a:ext>
            </a:extLst>
          </p:cNvPr>
          <p:cNvSpPr txBox="1"/>
          <p:nvPr/>
        </p:nvSpPr>
        <p:spPr>
          <a:xfrm>
            <a:off x="7701991" y="3964248"/>
            <a:ext cx="1691640" cy="1463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0" dirty="0" err="1">
                <a:solidFill>
                  <a:srgbClr val="5C7090"/>
                </a:solidFill>
                <a:latin typeface="Microsoft YaHei"/>
              </a:rPr>
              <a:t>论文、专利、报告与视频</a:t>
            </a:r>
            <a:endParaRPr sz="1100" b="0" dirty="0">
              <a:solidFill>
                <a:srgbClr val="5C7090"/>
              </a:solidFill>
              <a:latin typeface="Microsoft YaHei"/>
            </a:endParaRPr>
          </a:p>
        </p:txBody>
      </p:sp>
      <p:sp>
        <p:nvSpPr>
          <p:cNvPr id="120" name="Rounded Rectangle 74">
            <a:extLst>
              <a:ext uri="{FF2B5EF4-FFF2-40B4-BE49-F238E27FC236}">
                <a16:creationId xmlns:a16="http://schemas.microsoft.com/office/drawing/2014/main" id="{E7307CAA-975B-A247-8A9C-E09E4A2A15BB}"/>
              </a:ext>
            </a:extLst>
          </p:cNvPr>
          <p:cNvSpPr/>
          <p:nvPr/>
        </p:nvSpPr>
        <p:spPr>
          <a:xfrm>
            <a:off x="9000439" y="3808800"/>
            <a:ext cx="1901952" cy="118872"/>
          </a:xfrm>
          <a:prstGeom prst="roundRect">
            <a:avLst>
              <a:gd name="adj" fmla="val 25000"/>
            </a:avLst>
          </a:prstGeom>
          <a:solidFill>
            <a:srgbClr val="E4E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1" name="Rounded Rectangle 75">
            <a:extLst>
              <a:ext uri="{FF2B5EF4-FFF2-40B4-BE49-F238E27FC236}">
                <a16:creationId xmlns:a16="http://schemas.microsoft.com/office/drawing/2014/main" id="{5154DA2E-51F3-14A6-F335-DB25E08CB26F}"/>
              </a:ext>
            </a:extLst>
          </p:cNvPr>
          <p:cNvSpPr/>
          <p:nvPr/>
        </p:nvSpPr>
        <p:spPr>
          <a:xfrm>
            <a:off x="9005011" y="3849948"/>
            <a:ext cx="657851" cy="118872"/>
          </a:xfrm>
          <a:prstGeom prst="roundRect">
            <a:avLst/>
          </a:prstGeom>
          <a:solidFill>
            <a:srgbClr val="788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2" name="Rounded Rectangle 76">
            <a:extLst>
              <a:ext uri="{FF2B5EF4-FFF2-40B4-BE49-F238E27FC236}">
                <a16:creationId xmlns:a16="http://schemas.microsoft.com/office/drawing/2014/main" id="{FB6E6D75-D851-D74D-A17F-5FF7F9974643}"/>
              </a:ext>
            </a:extLst>
          </p:cNvPr>
          <p:cNvSpPr/>
          <p:nvPr/>
        </p:nvSpPr>
        <p:spPr>
          <a:xfrm>
            <a:off x="9000439" y="3808800"/>
            <a:ext cx="657851" cy="118872"/>
          </a:xfrm>
          <a:prstGeom prst="roundRect">
            <a:avLst>
              <a:gd name="adj" fmla="val 25000"/>
            </a:avLst>
          </a:prstGeom>
          <a:solidFill>
            <a:srgbClr val="655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3" name="TextBox 77">
            <a:extLst>
              <a:ext uri="{FF2B5EF4-FFF2-40B4-BE49-F238E27FC236}">
                <a16:creationId xmlns:a16="http://schemas.microsoft.com/office/drawing/2014/main" id="{55BB4944-7D6D-4A40-5BA5-3EED675998E4}"/>
              </a:ext>
            </a:extLst>
          </p:cNvPr>
          <p:cNvSpPr txBox="1"/>
          <p:nvPr/>
        </p:nvSpPr>
        <p:spPr>
          <a:xfrm>
            <a:off x="10938967" y="3763080"/>
            <a:ext cx="475488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640" b="1">
                <a:solidFill>
                  <a:srgbClr val="5C7090"/>
                </a:solidFill>
                <a:latin typeface="Microsoft YaHei"/>
              </a:rPr>
              <a:t>¥3,000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6309360" y="-640080"/>
            <a:ext cx="6400800" cy="7863840"/>
          </a:xfrm>
          <a:prstGeom prst="parallelogram">
            <a:avLst/>
          </a:prstGeom>
          <a:solidFill>
            <a:srgbClr val="111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8869680" y="-731520"/>
            <a:ext cx="3840480" cy="8138160"/>
          </a:xfrm>
          <a:prstGeom prst="parallelogram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" y="0"/>
            <a:ext cx="1371599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0584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0876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1168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51460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1752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52044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02336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2628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2920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53212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3504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3796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04088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54380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4672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54964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5256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55548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05840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56132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06424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56716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07008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257300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3075920" y="0"/>
            <a:ext cx="1371600" cy="685800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6537960"/>
            <a:ext cx="12191695" cy="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7040880"/>
            <a:ext cx="12191695" cy="0"/>
          </a:xfrm>
          <a:prstGeom prst="line">
            <a:avLst/>
          </a:prstGeom>
          <a:ln w="2794">
            <a:solidFill>
              <a:srgbClr val="223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8046720" y="-1737360"/>
            <a:ext cx="5303520" cy="5303520"/>
          </a:xfrm>
          <a:prstGeom prst="ellipse">
            <a:avLst/>
          </a:prstGeom>
          <a:noFill/>
          <a:ln w="15240">
            <a:solidFill>
              <a:srgbClr val="4C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732520" y="-1051560"/>
            <a:ext cx="3931920" cy="3931920"/>
          </a:xfrm>
          <a:prstGeom prst="ellipse">
            <a:avLst/>
          </a:prstGeom>
          <a:noFill/>
          <a:ln w="10160">
            <a:solidFill>
              <a:srgbClr val="7D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8368" y="1024128"/>
            <a:ext cx="457200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谢谢各位老师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4" y="1700784"/>
            <a:ext cx="320040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7DDBFF"/>
                </a:solidFill>
                <a:latin typeface="Microsoft YaHei"/>
              </a:rPr>
              <a:t>欢迎批评指正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4944" y="2395728"/>
            <a:ext cx="5349240" cy="932688"/>
          </a:xfrm>
          <a:prstGeom prst="roundRect">
            <a:avLst/>
          </a:prstGeom>
          <a:solidFill>
            <a:srgbClr val="102A54"/>
          </a:solidFill>
          <a:ln w="9525">
            <a:solidFill>
              <a:srgbClr val="38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0120" y="2615184"/>
            <a:ext cx="4800600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基于瑞萨 RA6M5 的多模态 AI 机械臂辅学系统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" y="2907792"/>
            <a:ext cx="292608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B9E8FF"/>
                </a:solidFill>
                <a:latin typeface="Microsoft YaHei"/>
              </a:rPr>
              <a:t>感知 · 理解 · 决策 · 执行 · 反馈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944" y="416052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</a:rPr>
              <a:t>Q &amp; 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726679" y="1078992"/>
            <a:ext cx="2816352" cy="43434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8" name="Picture 57" descr="image10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19" y="1496831"/>
            <a:ext cx="2633472" cy="3507720"/>
          </a:xfrm>
          <a:prstGeom prst="rect">
            <a:avLst/>
          </a:prstGeom>
        </p:spPr>
      </p:pic>
      <p:sp>
        <p:nvSpPr>
          <p:cNvPr id="59" name="Rectangle 58"/>
          <p:cNvSpPr/>
          <p:nvPr/>
        </p:nvSpPr>
        <p:spPr>
          <a:xfrm>
            <a:off x="7726679" y="5184648"/>
            <a:ext cx="2816352" cy="237744"/>
          </a:xfrm>
          <a:prstGeom prst="rect">
            <a:avLst/>
          </a:prstGeom>
          <a:solidFill>
            <a:srgbClr val="111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836407" y="5202936"/>
            <a:ext cx="2596896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720" b="1">
                <a:solidFill>
                  <a:srgbClr val="FFFFFF"/>
                </a:solidFill>
                <a:latin typeface="Microsoft YaHei"/>
              </a:rPr>
              <a:t>原型演示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4944" y="5989320"/>
            <a:ext cx="10698480" cy="10972"/>
          </a:xfrm>
          <a:prstGeom prst="rect">
            <a:avLst/>
          </a:prstGeom>
          <a:solidFill>
            <a:srgbClr val="47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31520" y="6108192"/>
            <a:ext cx="210312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C9D8EF"/>
                </a:solidFill>
                <a:latin typeface="Microsoft YaHei"/>
              </a:rPr>
              <a:t>电子信息与工程学院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2B9F173563D262137946385CC850EB8CA3F5569928804C6FCCAD6E1E7F3C7D43" val="[{&quot;GradientColorId&quot;:&quot;&quot;,&quot;IsFree&quot;:true,&quot;IsGradient&quot;:false,&quot;ImagePath&quot;:&quot;&quot;,&quot;GradientColor&quot;:null,&quot;SimpleColor&quot;:&quot;#FFFFFF&quot;},{&quot;GradientColorId&quot;:&quot;&quot;,&quot;IsFree&quot;:true,&quot;IsGradient&quot;:false,&quot;ImagePath&quot;:&quot;&quot;,&quot;GradientColor&quot;:null,&quot;SimpleColor&quot;:&quot;#000000&quot;}]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1615</Words>
  <Application>Microsoft Office PowerPoint</Application>
  <PresentationFormat>宽屏</PresentationFormat>
  <Paragraphs>308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Microsoft YaHei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Faker SKT</cp:lastModifiedBy>
  <cp:revision>68</cp:revision>
  <dcterms:created xsi:type="dcterms:W3CDTF">2013-01-27T09:14:16Z</dcterms:created>
  <dcterms:modified xsi:type="dcterms:W3CDTF">2026-05-12T14:42:23Z</dcterms:modified>
  <cp:category/>
</cp:coreProperties>
</file>